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63333" y="9232722"/>
            <a:ext cx="102234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00000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ocs.python.org/3/" TargetMode="External"/><Relationship Id="rId3" Type="http://schemas.openxmlformats.org/officeDocument/2006/relationships/hyperlink" Target="https://docs.streamlit.io/" TargetMode="External"/><Relationship Id="rId4" Type="http://schemas.openxmlformats.org/officeDocument/2006/relationships/hyperlink" Target="https://docs.langchain.com/" TargetMode="External"/><Relationship Id="rId5" Type="http://schemas.openxmlformats.org/officeDocument/2006/relationships/hyperlink" Target="https://docs.crewai.com/" TargetMode="External"/><Relationship Id="rId6" Type="http://schemas.openxmlformats.org/officeDocument/2006/relationships/hyperlink" Target="https://huggingface.co/docs" TargetMode="External"/><Relationship Id="rId7" Type="http://schemas.openxmlformats.org/officeDocument/2006/relationships/hyperlink" Target="https://stackoverflow.com/" TargetMode="External"/><Relationship Id="rId8" Type="http://schemas.openxmlformats.org/officeDocument/2006/relationships/hyperlink" Target="https://www.geeksforgeeks.org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181" y="875817"/>
            <a:ext cx="5678805" cy="46843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 marL="27305">
              <a:lnSpc>
                <a:spcPct val="100000"/>
              </a:lnSpc>
              <a:spcBef>
                <a:spcPts val="305"/>
              </a:spcBef>
            </a:pP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22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endParaRPr sz="2200">
              <a:latin typeface="Calibri"/>
              <a:cs typeface="Calibri"/>
            </a:endParaRPr>
          </a:p>
          <a:p>
            <a:pPr algn="ctr" marL="30480">
              <a:lnSpc>
                <a:spcPct val="100000"/>
              </a:lnSpc>
              <a:spcBef>
                <a:spcPts val="200"/>
              </a:spcBef>
            </a:pP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22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22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endParaRPr sz="2200">
              <a:latin typeface="Calibri"/>
              <a:cs typeface="Calibri"/>
            </a:endParaRPr>
          </a:p>
          <a:p>
            <a:pPr algn="ctr" marL="27305">
              <a:lnSpc>
                <a:spcPct val="100000"/>
              </a:lnSpc>
              <a:spcBef>
                <a:spcPts val="2590"/>
              </a:spcBef>
            </a:pP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Major</a:t>
            </a:r>
            <a:r>
              <a:rPr dirty="0" sz="18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63400"/>
              </a:lnSpc>
            </a:pP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submitted</a:t>
            </a:r>
            <a:r>
              <a:rPr dirty="0" sz="18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8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partial</a:t>
            </a:r>
            <a:r>
              <a:rPr dirty="0" sz="18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fulfillment</a:t>
            </a:r>
            <a:r>
              <a:rPr dirty="0" sz="18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requirements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degree 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algn="ctr" marL="22225">
              <a:lnSpc>
                <a:spcPct val="100000"/>
              </a:lnSpc>
              <a:spcBef>
                <a:spcPts val="1370"/>
              </a:spcBef>
            </a:pP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Master</a:t>
            </a:r>
            <a:r>
              <a:rPr dirty="0" sz="18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8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L="22860">
              <a:lnSpc>
                <a:spcPct val="100000"/>
              </a:lnSpc>
              <a:spcBef>
                <a:spcPts val="1220"/>
              </a:spcBef>
            </a:pPr>
            <a:r>
              <a:rPr dirty="0" sz="1550" spc="-25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endParaRPr sz="1550">
              <a:latin typeface="Calibri"/>
              <a:cs typeface="Calibri"/>
            </a:endParaRPr>
          </a:p>
          <a:p>
            <a:pPr algn="ctr" marL="73660">
              <a:lnSpc>
                <a:spcPct val="100000"/>
              </a:lnSpc>
              <a:spcBef>
                <a:spcPts val="280"/>
              </a:spcBef>
            </a:pP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Ashish</a:t>
            </a:r>
            <a:r>
              <a:rPr dirty="0" sz="15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Rana(EN21CA301016)</a:t>
            </a:r>
            <a:endParaRPr sz="1500">
              <a:latin typeface="Calibri"/>
              <a:cs typeface="Calibri"/>
            </a:endParaRPr>
          </a:p>
          <a:p>
            <a:pPr algn="ctr" marL="1915795" marR="1783080" indent="-635">
              <a:lnSpc>
                <a:spcPct val="116799"/>
              </a:lnSpc>
              <a:spcBef>
                <a:spcPts val="1800"/>
              </a:spcBef>
            </a:pP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5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5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guidance</a:t>
            </a:r>
            <a:r>
              <a:rPr dirty="0" sz="15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000009"/>
                </a:solidFill>
                <a:latin typeface="Calibri"/>
                <a:cs typeface="Calibri"/>
              </a:rPr>
              <a:t>of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9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Akshay</a:t>
            </a:r>
            <a:r>
              <a:rPr dirty="0" sz="15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000009"/>
                </a:solidFill>
                <a:latin typeface="Calibri"/>
                <a:cs typeface="Calibri"/>
              </a:rPr>
              <a:t>Saxena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Ajeet Singh</a:t>
            </a:r>
            <a:r>
              <a:rPr dirty="0" sz="1550" spc="-10" b="1">
                <a:solidFill>
                  <a:srgbClr val="000009"/>
                </a:solidFill>
                <a:latin typeface="Calibri"/>
                <a:cs typeface="Calibri"/>
              </a:rPr>
              <a:t> Rajput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Ajaj</a:t>
            </a:r>
            <a:r>
              <a:rPr dirty="0" sz="1550" spc="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20" b="1">
                <a:solidFill>
                  <a:srgbClr val="000009"/>
                </a:solidFill>
                <a:latin typeface="Calibri"/>
                <a:cs typeface="Calibri"/>
              </a:rPr>
              <a:t>Khan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5679" y="6864146"/>
            <a:ext cx="3223260" cy="1077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8585" marR="102870">
              <a:lnSpc>
                <a:spcPct val="113999"/>
              </a:lnSpc>
              <a:spcBef>
                <a:spcPts val="95"/>
              </a:spcBef>
            </a:pP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Department</a:t>
            </a:r>
            <a:r>
              <a:rPr dirty="0" sz="15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5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5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Applications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Faculty</a:t>
            </a:r>
            <a:r>
              <a:rPr dirty="0" sz="15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5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Engineering</a:t>
            </a:r>
            <a:endParaRPr sz="1500">
              <a:latin typeface="Calibri"/>
              <a:cs typeface="Calibri"/>
            </a:endParaRPr>
          </a:p>
          <a:p>
            <a:pPr algn="ctr" marL="12065" marR="5080">
              <a:lnSpc>
                <a:spcPct val="115999"/>
              </a:lnSpc>
              <a:spcBef>
                <a:spcPts val="5"/>
              </a:spcBef>
            </a:pP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5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5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INDORE-</a:t>
            </a:r>
            <a:r>
              <a:rPr dirty="0" sz="1500" spc="-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453331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May </a:t>
            </a:r>
            <a:r>
              <a:rPr dirty="0" sz="1500" spc="-20" b="1">
                <a:solidFill>
                  <a:srgbClr val="000009"/>
                </a:solidFill>
                <a:latin typeface="Calibri"/>
                <a:cs typeface="Calibri"/>
              </a:rPr>
              <a:t>2026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4765" y="8888679"/>
            <a:ext cx="806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25">
                <a:solidFill>
                  <a:srgbClr val="000009"/>
                </a:solidFill>
                <a:latin typeface="Calibri"/>
                <a:cs typeface="Calibri"/>
              </a:rPr>
              <a:t>ii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670" y="6016625"/>
            <a:ext cx="1725422" cy="6838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181" y="875817"/>
            <a:ext cx="5678805" cy="46843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 marL="27305">
              <a:lnSpc>
                <a:spcPct val="100000"/>
              </a:lnSpc>
              <a:spcBef>
                <a:spcPts val="305"/>
              </a:spcBef>
            </a:pP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22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endParaRPr sz="2200">
              <a:latin typeface="Calibri"/>
              <a:cs typeface="Calibri"/>
            </a:endParaRPr>
          </a:p>
          <a:p>
            <a:pPr algn="ctr" marL="30480">
              <a:lnSpc>
                <a:spcPct val="100000"/>
              </a:lnSpc>
              <a:spcBef>
                <a:spcPts val="200"/>
              </a:spcBef>
            </a:pP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22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22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endParaRPr sz="2200">
              <a:latin typeface="Calibri"/>
              <a:cs typeface="Calibri"/>
            </a:endParaRPr>
          </a:p>
          <a:p>
            <a:pPr algn="ctr" marL="27305">
              <a:lnSpc>
                <a:spcPct val="100000"/>
              </a:lnSpc>
              <a:spcBef>
                <a:spcPts val="2590"/>
              </a:spcBef>
            </a:pP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Major</a:t>
            </a:r>
            <a:r>
              <a:rPr dirty="0" sz="18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63400"/>
              </a:lnSpc>
            </a:pP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submitted</a:t>
            </a:r>
            <a:r>
              <a:rPr dirty="0" sz="18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8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partial</a:t>
            </a:r>
            <a:r>
              <a:rPr dirty="0" sz="18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fulfillment</a:t>
            </a:r>
            <a:r>
              <a:rPr dirty="0" sz="18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requirements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9"/>
                </a:solidFill>
                <a:latin typeface="Calibri"/>
                <a:cs typeface="Calibri"/>
              </a:rPr>
              <a:t>degree </a:t>
            </a:r>
            <a:r>
              <a:rPr dirty="0" sz="1800" spc="-25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algn="ctr" marL="22225">
              <a:lnSpc>
                <a:spcPct val="100000"/>
              </a:lnSpc>
              <a:spcBef>
                <a:spcPts val="1370"/>
              </a:spcBef>
            </a:pP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Master</a:t>
            </a:r>
            <a:r>
              <a:rPr dirty="0" sz="18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8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8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L="22860">
              <a:lnSpc>
                <a:spcPct val="100000"/>
              </a:lnSpc>
              <a:spcBef>
                <a:spcPts val="1220"/>
              </a:spcBef>
            </a:pPr>
            <a:r>
              <a:rPr dirty="0" sz="1550" spc="-25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endParaRPr sz="1550">
              <a:latin typeface="Calibri"/>
              <a:cs typeface="Calibri"/>
            </a:endParaRPr>
          </a:p>
          <a:p>
            <a:pPr algn="ctr" marL="73660">
              <a:lnSpc>
                <a:spcPct val="100000"/>
              </a:lnSpc>
              <a:spcBef>
                <a:spcPts val="280"/>
              </a:spcBef>
            </a:pP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Ashish</a:t>
            </a:r>
            <a:r>
              <a:rPr dirty="0" sz="15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Rana(EN21CA301016)</a:t>
            </a:r>
            <a:endParaRPr sz="1500">
              <a:latin typeface="Calibri"/>
              <a:cs typeface="Calibri"/>
            </a:endParaRPr>
          </a:p>
          <a:p>
            <a:pPr algn="ctr" marL="1915795" marR="1783080" indent="-635">
              <a:lnSpc>
                <a:spcPct val="116799"/>
              </a:lnSpc>
              <a:spcBef>
                <a:spcPts val="1800"/>
              </a:spcBef>
            </a:pP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5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5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0009"/>
                </a:solidFill>
                <a:latin typeface="Calibri"/>
                <a:cs typeface="Calibri"/>
              </a:rPr>
              <a:t>guidance</a:t>
            </a:r>
            <a:r>
              <a:rPr dirty="0" sz="15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000009"/>
                </a:solidFill>
                <a:latin typeface="Calibri"/>
                <a:cs typeface="Calibri"/>
              </a:rPr>
              <a:t>of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9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Akshay</a:t>
            </a:r>
            <a:r>
              <a:rPr dirty="0" sz="15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000009"/>
                </a:solidFill>
                <a:latin typeface="Calibri"/>
                <a:cs typeface="Calibri"/>
              </a:rPr>
              <a:t>Saxena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Ajeet Singh</a:t>
            </a:r>
            <a:r>
              <a:rPr dirty="0" sz="1550" spc="-10" b="1">
                <a:solidFill>
                  <a:srgbClr val="000009"/>
                </a:solidFill>
                <a:latin typeface="Calibri"/>
                <a:cs typeface="Calibri"/>
              </a:rPr>
              <a:t> Rajput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5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Ajaj</a:t>
            </a:r>
            <a:r>
              <a:rPr dirty="0" sz="1550" spc="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20" b="1">
                <a:solidFill>
                  <a:srgbClr val="000009"/>
                </a:solidFill>
                <a:latin typeface="Calibri"/>
                <a:cs typeface="Calibri"/>
              </a:rPr>
              <a:t>Khan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5679" y="6864146"/>
            <a:ext cx="3223260" cy="1077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8585" marR="102870">
              <a:lnSpc>
                <a:spcPct val="113999"/>
              </a:lnSpc>
              <a:spcBef>
                <a:spcPts val="95"/>
              </a:spcBef>
            </a:pP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Department</a:t>
            </a:r>
            <a:r>
              <a:rPr dirty="0" sz="15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5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5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Applications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Faculty</a:t>
            </a:r>
            <a:r>
              <a:rPr dirty="0" sz="15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5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Engineering</a:t>
            </a:r>
            <a:endParaRPr sz="1500">
              <a:latin typeface="Calibri"/>
              <a:cs typeface="Calibri"/>
            </a:endParaRPr>
          </a:p>
          <a:p>
            <a:pPr algn="ctr" marL="12065" marR="5080">
              <a:lnSpc>
                <a:spcPct val="115999"/>
              </a:lnSpc>
              <a:spcBef>
                <a:spcPts val="5"/>
              </a:spcBef>
            </a:pP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5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5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INDORE-</a:t>
            </a:r>
            <a:r>
              <a:rPr dirty="0" sz="1500" spc="-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0009"/>
                </a:solidFill>
                <a:latin typeface="Calibri"/>
                <a:cs typeface="Calibri"/>
              </a:rPr>
              <a:t>453331 </a:t>
            </a:r>
            <a:r>
              <a:rPr dirty="0" sz="1500" b="1">
                <a:solidFill>
                  <a:srgbClr val="000009"/>
                </a:solidFill>
                <a:latin typeface="Calibri"/>
                <a:cs typeface="Calibri"/>
              </a:rPr>
              <a:t>May </a:t>
            </a:r>
            <a:r>
              <a:rPr dirty="0" sz="1500" spc="-20" b="1">
                <a:solidFill>
                  <a:srgbClr val="000009"/>
                </a:solidFill>
                <a:latin typeface="Calibri"/>
                <a:cs typeface="Calibri"/>
              </a:rPr>
              <a:t>2026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670" y="6016625"/>
            <a:ext cx="1725422" cy="6838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1254379"/>
            <a:ext cx="5887720" cy="164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3575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Report</a:t>
            </a:r>
            <a:r>
              <a:rPr dirty="0" u="sng" sz="1800" spc="-8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Approval</a:t>
            </a:r>
            <a:endParaRPr sz="1800">
              <a:latin typeface="Calibri"/>
              <a:cs typeface="Calibri"/>
            </a:endParaRPr>
          </a:p>
          <a:p>
            <a:pPr algn="just" marL="17145" marR="5080" indent="-5080">
              <a:lnSpc>
                <a:spcPct val="152900"/>
              </a:lnSpc>
              <a:spcBef>
                <a:spcPts val="340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40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work</a:t>
            </a:r>
            <a:r>
              <a:rPr dirty="0" sz="140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400" spc="1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r>
              <a:rPr dirty="0" sz="1400" spc="1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400" spc="1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‘Multi-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400" spc="1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400" spc="1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System’</a:t>
            </a:r>
            <a:r>
              <a:rPr dirty="0" sz="1400" spc="1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hereby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approved</a:t>
            </a:r>
            <a:r>
              <a:rPr dirty="0" sz="140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40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40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creditable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study</a:t>
            </a:r>
            <a:r>
              <a:rPr dirty="0" sz="140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subject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carried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out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presented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manner satisfactory to</a:t>
            </a:r>
            <a:r>
              <a:rPr dirty="0" sz="140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warrant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its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acceptance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prerequisite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Degree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has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submitted.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045" y="3440024"/>
            <a:ext cx="5883910" cy="1333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145" marR="5080" indent="-5080">
              <a:lnSpc>
                <a:spcPct val="152900"/>
              </a:lnSpc>
              <a:spcBef>
                <a:spcPts val="120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40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understood</a:t>
            </a:r>
            <a:r>
              <a:rPr dirty="0" sz="140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40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approval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undersigned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do</a:t>
            </a:r>
            <a:r>
              <a:rPr dirty="0" sz="140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40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endorse</a:t>
            </a:r>
            <a:r>
              <a:rPr dirty="0" sz="140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or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approval</a:t>
            </a:r>
            <a:r>
              <a:rPr dirty="0" sz="140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40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statement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made,</a:t>
            </a:r>
            <a:r>
              <a:rPr dirty="0" sz="140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opinion</a:t>
            </a:r>
            <a:r>
              <a:rPr dirty="0" sz="140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expressed</a:t>
            </a:r>
            <a:r>
              <a:rPr dirty="0" sz="140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40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conclusion</a:t>
            </a:r>
            <a:r>
              <a:rPr dirty="0" sz="140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drawn</a:t>
            </a:r>
            <a:r>
              <a:rPr dirty="0" sz="140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there</a:t>
            </a:r>
            <a:r>
              <a:rPr dirty="0" sz="140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in;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but</a:t>
            </a:r>
            <a:r>
              <a:rPr dirty="0" sz="140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approve</a:t>
            </a:r>
            <a:r>
              <a:rPr dirty="0" sz="140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“Project</a:t>
            </a:r>
            <a:r>
              <a:rPr dirty="0" sz="140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Report”</a:t>
            </a:r>
            <a:r>
              <a:rPr dirty="0" sz="140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only</a:t>
            </a:r>
            <a:r>
              <a:rPr dirty="0" sz="140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purpose</a:t>
            </a:r>
            <a:r>
              <a:rPr dirty="0" sz="140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40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40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has</a:t>
            </a:r>
            <a:r>
              <a:rPr dirty="0" sz="140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been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submitted.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045" y="5814821"/>
            <a:ext cx="74739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Examiner(s)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045" y="6638035"/>
            <a:ext cx="3293745" cy="1931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Name(s)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000009"/>
              </a:buClr>
              <a:buFont typeface="Calibri"/>
              <a:buAutoNum type="arabicPeriod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000009"/>
              </a:buClr>
              <a:buFont typeface="Calibri"/>
              <a:buAutoNum type="arabicPeriod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000009"/>
              </a:buClr>
              <a:buFont typeface="Calibri"/>
              <a:buAutoNum type="arabicPeriod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9546" y="6638035"/>
            <a:ext cx="75628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Signature(s)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045" y="8792667"/>
            <a:ext cx="440118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5.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Date: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1245234"/>
            <a:ext cx="5897245" cy="3829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Declaration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>
              <a:latin typeface="Calibri"/>
              <a:cs typeface="Calibri"/>
            </a:endParaRPr>
          </a:p>
          <a:p>
            <a:pPr algn="just" marL="17145" marR="5080" indent="-5080">
              <a:lnSpc>
                <a:spcPct val="152800"/>
              </a:lnSpc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hereby</a:t>
            </a:r>
            <a:r>
              <a:rPr dirty="0" sz="1400" spc="10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declare</a:t>
            </a:r>
            <a:r>
              <a:rPr dirty="0" sz="140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entitled</a:t>
            </a:r>
            <a:r>
              <a:rPr dirty="0" sz="1400" spc="11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400" spc="114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r>
              <a:rPr dirty="0" sz="1400" spc="120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‘Multi-Agent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400" spc="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System’</a:t>
            </a:r>
            <a:r>
              <a:rPr dirty="0" sz="14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submitted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 in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partial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fulfillment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award</a:t>
            </a:r>
            <a:r>
              <a:rPr dirty="0" sz="140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degree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of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Master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completed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supervision</a:t>
            </a:r>
            <a:r>
              <a:rPr dirty="0" sz="1400" spc="1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16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400" spc="150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Shakshi</a:t>
            </a:r>
            <a:r>
              <a:rPr dirty="0" sz="1400" spc="160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Dubey</a:t>
            </a:r>
            <a:r>
              <a:rPr dirty="0" sz="1400" spc="170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Faculty</a:t>
            </a:r>
            <a:r>
              <a:rPr dirty="0" sz="1400" spc="15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1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150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175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,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MedicapsUniversity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Indore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authentic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work.</a:t>
            </a:r>
            <a:endParaRPr sz="1400">
              <a:latin typeface="Calibri"/>
              <a:cs typeface="Calibri"/>
            </a:endParaRPr>
          </a:p>
          <a:p>
            <a:pPr algn="just" marL="17145" marR="14604" indent="-5080">
              <a:lnSpc>
                <a:spcPct val="153300"/>
              </a:lnSpc>
              <a:spcBef>
                <a:spcPts val="955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Further,</a:t>
            </a:r>
            <a:r>
              <a:rPr dirty="0" sz="140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declare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40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40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40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work,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full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40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40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parts,</a:t>
            </a:r>
            <a:r>
              <a:rPr dirty="0" sz="140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have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neither</a:t>
            </a:r>
            <a:r>
              <a:rPr dirty="0" sz="140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taken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from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other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source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nor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have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submitted</a:t>
            </a:r>
            <a:r>
              <a:rPr dirty="0" sz="140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other Institute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or University for</a:t>
            </a:r>
            <a:r>
              <a:rPr dirty="0" sz="140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award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degree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or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diploma.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Calibri"/>
              <a:cs typeface="Calibri"/>
            </a:endParaRPr>
          </a:p>
          <a:p>
            <a:pPr marL="2972435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Signature</a:t>
            </a:r>
            <a:r>
              <a:rPr dirty="0" sz="1150" spc="1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names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student</a:t>
            </a:r>
            <a:r>
              <a:rPr dirty="0" sz="1150" spc="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date</a:t>
            </a:r>
            <a:endParaRPr sz="11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53689" y="5366511"/>
          <a:ext cx="3702685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"/>
                <a:gridCol w="1727835"/>
                <a:gridCol w="1699260"/>
              </a:tblGrid>
              <a:tr h="264795">
                <a:tc gridSpan="2">
                  <a:txBody>
                    <a:bodyPr/>
                    <a:lstStyle/>
                    <a:p>
                      <a:pPr marL="31750">
                        <a:lnSpc>
                          <a:spcPts val="1120"/>
                        </a:lnSpc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20"/>
                        </a:lnSpc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38417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128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1280"/>
                </a:tc>
              </a:tr>
              <a:tr h="39052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57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5725"/>
                </a:tc>
              </a:tr>
              <a:tr h="39052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  <a:tr h="39052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572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5725"/>
                </a:tc>
              </a:tr>
              <a:tr h="39306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6.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  <a:tr h="388620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7.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265"/>
                </a:tc>
              </a:tr>
              <a:tr h="38925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8.</a:t>
                      </a:r>
                      <a:r>
                        <a:rPr dirty="0" sz="1150" spc="1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382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3820"/>
                </a:tc>
              </a:tr>
              <a:tr h="300355">
                <a:tc>
                  <a:txBody>
                    <a:bodyPr/>
                    <a:lstStyle/>
                    <a:p>
                      <a:pPr marL="31750">
                        <a:lnSpc>
                          <a:spcPts val="1365"/>
                        </a:lnSpc>
                        <a:spcBef>
                          <a:spcPts val="90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9.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14300"/>
                </a:tc>
                <a:tc gridSpan="2">
                  <a:txBody>
                    <a:bodyPr/>
                    <a:lstStyle/>
                    <a:p>
                      <a:pPr marL="60325">
                        <a:lnSpc>
                          <a:spcPts val="1650"/>
                        </a:lnSpc>
                        <a:spcBef>
                          <a:spcPts val="615"/>
                        </a:spcBef>
                      </a:pPr>
                      <a:r>
                        <a:rPr dirty="0" sz="1150" spc="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r>
                        <a:rPr dirty="0" sz="1150" spc="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…………………………………….</a:t>
                      </a:r>
                      <a:r>
                        <a:rPr dirty="0" sz="1150" spc="1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10.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81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96766" y="8879535"/>
            <a:ext cx="295275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………………………………….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…………………………………….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1098931"/>
            <a:ext cx="6111875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08915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Certificate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0100"/>
              </a:lnSpc>
              <a:spcBef>
                <a:spcPts val="350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I,</a:t>
            </a:r>
            <a:r>
              <a:rPr dirty="0" sz="140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Shakshi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Dubey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certify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entitled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r>
              <a:rPr dirty="0" sz="1400" spc="-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‘Multi-Agent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4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System’</a:t>
            </a:r>
            <a:r>
              <a:rPr dirty="0" sz="1400" spc="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submitted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partial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fulfillment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award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degree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of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Master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Group</a:t>
            </a:r>
            <a:r>
              <a:rPr dirty="0" sz="14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G1</a:t>
            </a:r>
            <a:r>
              <a:rPr dirty="0" sz="1400" spc="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record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carried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out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them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my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guidance.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045" y="3692397"/>
            <a:ext cx="1733550" cy="892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&lt;Name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Internal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Guide&gt;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ts val="2700"/>
              </a:lnSpc>
              <a:spcBef>
                <a:spcPts val="11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Applictions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Indore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045" y="5069204"/>
            <a:ext cx="1710689" cy="888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&lt;Name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Guide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&gt;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ts val="2700"/>
              </a:lnSpc>
              <a:spcBef>
                <a:spcPts val="8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&lt;Name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 the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Department&gt;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Name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Organization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2901" y="7127494"/>
            <a:ext cx="1733550" cy="1231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Dr.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Srinivasa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Rao</a:t>
            </a:r>
            <a:endParaRPr sz="1150">
              <a:latin typeface="Calibri"/>
              <a:cs typeface="Calibri"/>
            </a:endParaRPr>
          </a:p>
          <a:p>
            <a:pPr algn="ctr" marL="12700" marR="5080" indent="6985">
              <a:lnSpc>
                <a:spcPts val="2700"/>
              </a:lnSpc>
              <a:spcBef>
                <a:spcPts val="8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Head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 the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Department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Applications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Indore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8550" y="3538220"/>
            <a:ext cx="2429510" cy="0"/>
          </a:xfrm>
          <a:custGeom>
            <a:avLst/>
            <a:gdLst/>
            <a:ahLst/>
            <a:cxnLst/>
            <a:rect l="l" t="t" r="r" b="b"/>
            <a:pathLst>
              <a:path w="2429510" h="0">
                <a:moveTo>
                  <a:pt x="0" y="0"/>
                </a:moveTo>
                <a:lnTo>
                  <a:pt x="2429255" y="0"/>
                </a:lnTo>
              </a:path>
            </a:pathLst>
          </a:custGeom>
          <a:ln w="9906">
            <a:solidFill>
              <a:srgbClr val="00000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8550" y="4915534"/>
            <a:ext cx="2428875" cy="0"/>
          </a:xfrm>
          <a:custGeom>
            <a:avLst/>
            <a:gdLst/>
            <a:ahLst/>
            <a:cxnLst/>
            <a:rect l="l" t="t" r="r" b="b"/>
            <a:pathLst>
              <a:path w="2428875" h="0">
                <a:moveTo>
                  <a:pt x="0" y="0"/>
                </a:moveTo>
                <a:lnTo>
                  <a:pt x="2428621" y="0"/>
                </a:lnTo>
              </a:path>
            </a:pathLst>
          </a:custGeom>
          <a:ln w="9906">
            <a:solidFill>
              <a:srgbClr val="00000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6435" y="6969759"/>
            <a:ext cx="1593215" cy="0"/>
          </a:xfrm>
          <a:custGeom>
            <a:avLst/>
            <a:gdLst/>
            <a:ahLst/>
            <a:cxnLst/>
            <a:rect l="l" t="t" r="r" b="b"/>
            <a:pathLst>
              <a:path w="1593214" h="0">
                <a:moveTo>
                  <a:pt x="0" y="0"/>
                </a:moveTo>
                <a:lnTo>
                  <a:pt x="1592706" y="0"/>
                </a:lnTo>
              </a:path>
            </a:pathLst>
          </a:custGeom>
          <a:ln w="9906">
            <a:solidFill>
              <a:srgbClr val="00000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3500" y="914400"/>
            <a:ext cx="5377815" cy="7720330"/>
            <a:chOff x="1333500" y="914400"/>
            <a:chExt cx="5377815" cy="7720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0" y="914400"/>
              <a:ext cx="5366384" cy="38633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0" y="4802632"/>
              <a:ext cx="5377688" cy="383197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150" y="914400"/>
            <a:ext cx="5283073" cy="3784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3"/>
            <a:ext cx="5896610" cy="266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Acknowledgement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190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We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would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express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deepest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gratitude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Honorable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Chancellor,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Shri</a:t>
            </a:r>
            <a:endParaRPr sz="1400">
              <a:latin typeface="Calibri"/>
              <a:cs typeface="Calibri"/>
            </a:endParaRPr>
          </a:p>
          <a:p>
            <a:pPr algn="just" marL="17145" marR="5080">
              <a:lnSpc>
                <a:spcPct val="117300"/>
              </a:lnSpc>
              <a:spcBef>
                <a:spcPts val="1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R.</a:t>
            </a:r>
            <a:r>
              <a:rPr dirty="0" sz="1400" spc="-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C.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Mittal,</a:t>
            </a:r>
            <a:r>
              <a:rPr dirty="0" sz="1400" spc="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who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has provided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us with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every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facility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successfully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carry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out</a:t>
            </a:r>
            <a:r>
              <a:rPr dirty="0" sz="140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this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project, and our profound indebtedness to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 (Dr.) D.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 K.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 Patnaik,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Vice-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Chancellor,</a:t>
            </a:r>
            <a:r>
              <a:rPr dirty="0" sz="140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40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40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whose</a:t>
            </a:r>
            <a:r>
              <a:rPr dirty="0" sz="140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unfailing</a:t>
            </a:r>
            <a:r>
              <a:rPr dirty="0" sz="140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40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enthusiasm</a:t>
            </a:r>
            <a:r>
              <a:rPr dirty="0" sz="140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has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always</a:t>
            </a:r>
            <a:r>
              <a:rPr dirty="0" sz="1400" spc="-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boosted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up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morale.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We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thank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(Dr.)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Ratnesh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Litoria,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Associate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Dean(Computing</a:t>
            </a:r>
            <a:r>
              <a:rPr dirty="0" sz="140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Allied)</a:t>
            </a:r>
            <a:r>
              <a:rPr dirty="0" sz="140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Faculty</a:t>
            </a:r>
            <a:r>
              <a:rPr dirty="0" sz="140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Engineering,</a:t>
            </a:r>
            <a:r>
              <a:rPr dirty="0" sz="140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Medicaps</a:t>
            </a:r>
            <a:r>
              <a:rPr dirty="0" sz="140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University,</a:t>
            </a:r>
            <a:r>
              <a:rPr dirty="0" sz="140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giving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us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chance to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work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project.</a:t>
            </a:r>
            <a:r>
              <a:rPr dirty="0" sz="140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We would also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thank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Head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4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4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Department</a:t>
            </a:r>
            <a:r>
              <a:rPr dirty="0" sz="1400" spc="4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Prof.</a:t>
            </a:r>
            <a:r>
              <a:rPr dirty="0" sz="1400" spc="4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D.S.</a:t>
            </a:r>
            <a:r>
              <a:rPr dirty="0" sz="1400" spc="135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Rao</a:t>
            </a:r>
            <a:r>
              <a:rPr dirty="0" sz="1400" spc="95" b="1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48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his</a:t>
            </a:r>
            <a:r>
              <a:rPr dirty="0" sz="1400" spc="4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continuous</a:t>
            </a:r>
            <a:r>
              <a:rPr dirty="0" sz="1400" spc="4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encouragement</a:t>
            </a:r>
            <a:r>
              <a:rPr dirty="0" sz="1400" spc="45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betterment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project.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045" y="3696970"/>
            <a:ext cx="4234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We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express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heartfelt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gratitude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our</a:t>
            </a:r>
            <a:r>
              <a:rPr dirty="0" sz="140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400" spc="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Guide,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3397" y="3718814"/>
            <a:ext cx="1627505" cy="21526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Mr.</a:t>
            </a:r>
            <a:r>
              <a:rPr dirty="0" sz="1400" spc="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PQR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,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Designation,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3317" y="3965702"/>
            <a:ext cx="686435" cy="21526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Company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082" y="3943857"/>
            <a:ext cx="5170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well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my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Internal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Guide,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Prof.Shakshi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Dubey,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Assistant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Professor,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045" y="4158208"/>
            <a:ext cx="5887720" cy="286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145" marR="12700">
              <a:lnSpc>
                <a:spcPct val="115700"/>
              </a:lnSpc>
              <a:spcBef>
                <a:spcPts val="100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40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40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continuous</a:t>
            </a:r>
            <a:r>
              <a:rPr dirty="0" sz="140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help</a:t>
            </a:r>
            <a:r>
              <a:rPr dirty="0" sz="140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40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40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helped</a:t>
            </a:r>
            <a:r>
              <a:rPr dirty="0" sz="140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us</a:t>
            </a:r>
            <a:r>
              <a:rPr dirty="0" sz="140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complete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project.</a:t>
            </a:r>
            <a:endParaRPr sz="1400">
              <a:latin typeface="Calibri"/>
              <a:cs typeface="Calibri"/>
            </a:endParaRPr>
          </a:p>
          <a:p>
            <a:pPr algn="just" marL="17145" marR="5080" indent="-5080">
              <a:lnSpc>
                <a:spcPct val="117200"/>
              </a:lnSpc>
              <a:spcBef>
                <a:spcPts val="1055"/>
              </a:spcBef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would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thank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team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HCL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extended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their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kind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help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towards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completion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project.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their</a:t>
            </a:r>
            <a:r>
              <a:rPr dirty="0" sz="140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help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support,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due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which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we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able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complete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technical</a:t>
            </a:r>
            <a:r>
              <a:rPr dirty="0" sz="140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report.</a:t>
            </a:r>
            <a:r>
              <a:rPr dirty="0" sz="140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40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their</a:t>
            </a:r>
            <a:r>
              <a:rPr dirty="0" sz="140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support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report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would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have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possible.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Ashish</a:t>
            </a:r>
            <a:r>
              <a:rPr dirty="0" sz="11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Rana(EN21CA301016)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MCA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IV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Semester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Department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Computer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endParaRPr sz="1150">
              <a:latin typeface="Calibri"/>
              <a:cs typeface="Calibri"/>
            </a:endParaRPr>
          </a:p>
          <a:p>
            <a:pPr marL="12700" marR="4191000">
              <a:lnSpc>
                <a:spcPct val="122800"/>
              </a:lnSpc>
              <a:spcBef>
                <a:spcPts val="3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Faculty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Engineering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MedicapsUniversity,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Indore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3"/>
            <a:ext cx="5828030" cy="6076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223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solidFill>
                  <a:srgbClr val="000009"/>
                </a:solidFill>
                <a:uFill>
                  <a:solidFill>
                    <a:srgbClr val="000009"/>
                  </a:solidFill>
                </a:uFill>
                <a:latin typeface="Calibri"/>
                <a:cs typeface="Calibri"/>
              </a:rPr>
              <a:t>Abstract</a:t>
            </a:r>
            <a:endParaRPr sz="1800">
              <a:latin typeface="Calibri"/>
              <a:cs typeface="Calibri"/>
            </a:endParaRPr>
          </a:p>
          <a:p>
            <a:pPr marL="17145" marR="5080" indent="-5080">
              <a:lnSpc>
                <a:spcPct val="113599"/>
              </a:lnSpc>
              <a:spcBef>
                <a:spcPts val="960"/>
              </a:spcBef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Multi-Agent Education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web-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AI-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powered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designed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enhance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providing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intelligent,</a:t>
            </a:r>
            <a:r>
              <a:rPr dirty="0" sz="140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interactive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content.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enables users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explore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various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topics,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detailed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visualize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concepts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AI-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outputs,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40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collaborate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produce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organized</a:t>
            </a:r>
            <a:r>
              <a:rPr dirty="0" sz="1400" spc="-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information.</a:t>
            </a:r>
            <a:endParaRPr sz="1400">
              <a:latin typeface="Calibri"/>
              <a:cs typeface="Calibri"/>
            </a:endParaRPr>
          </a:p>
          <a:p>
            <a:pPr marL="17145" marR="104775" indent="-5080">
              <a:lnSpc>
                <a:spcPct val="113100"/>
              </a:lnSpc>
              <a:spcBef>
                <a:spcPts val="1019"/>
              </a:spcBef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developed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Streamlit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interface,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along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advanced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frameworks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CrewAI,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LangChain,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external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400" spc="-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processing.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000009"/>
                </a:solidFill>
                <a:latin typeface="Calibri"/>
                <a:cs typeface="Calibri"/>
              </a:rPr>
              <a:t>a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modular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multi-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handle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research,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summarization,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ensuring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scalability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efficiency.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Key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features</a:t>
            </a:r>
            <a:r>
              <a:rPr dirty="0" sz="1400" spc="-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include:</a:t>
            </a:r>
            <a:endParaRPr sz="140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300"/>
              </a:spcBef>
              <a:buSzPct val="82142"/>
              <a:buChar char="•"/>
              <a:tabLst>
                <a:tab pos="121920" algn="l"/>
              </a:tabLst>
            </a:pP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Multi-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collaboration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endParaRPr sz="140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265"/>
              </a:spcBef>
              <a:buSzPct val="82142"/>
              <a:buChar char="•"/>
              <a:tabLst>
                <a:tab pos="121920" algn="l"/>
              </a:tabLst>
            </a:pP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Topic-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explanation</a:t>
            </a:r>
            <a:endParaRPr sz="140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300"/>
              </a:spcBef>
              <a:buSzPct val="82142"/>
              <a:buChar char="•"/>
              <a:tabLst>
                <a:tab pos="121920" algn="l"/>
              </a:tabLst>
            </a:pP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AI-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summaries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300"/>
              </a:spcBef>
              <a:buSzPct val="82142"/>
              <a:buChar char="•"/>
              <a:tabLst>
                <a:tab pos="121920" algn="l"/>
              </a:tabLst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40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(images/diagrams)</a:t>
            </a:r>
            <a:endParaRPr sz="140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270"/>
              </a:spcBef>
              <a:buSzPct val="82142"/>
              <a:buChar char="•"/>
              <a:tabLst>
                <a:tab pos="121920" algn="l"/>
              </a:tabLst>
            </a:pP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400" spc="-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external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models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endParaRPr sz="1400">
              <a:latin typeface="Calibri"/>
              <a:cs typeface="Calibri"/>
            </a:endParaRPr>
          </a:p>
          <a:p>
            <a:pPr marL="17145" marR="74930" indent="-5080">
              <a:lnSpc>
                <a:spcPct val="113700"/>
              </a:lnSpc>
              <a:spcBef>
                <a:spcPts val="1075"/>
              </a:spcBef>
            </a:pP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improves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400" spc="-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efficiency,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enhances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quality,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provides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scalable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solution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40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AI-driven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40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platforms.</a:t>
            </a:r>
            <a:endParaRPr sz="1400">
              <a:latin typeface="Calibri"/>
              <a:cs typeface="Calibri"/>
            </a:endParaRPr>
          </a:p>
          <a:p>
            <a:pPr marL="17145" marR="130810" indent="-5080">
              <a:lnSpc>
                <a:spcPct val="113700"/>
              </a:lnSpc>
              <a:spcBef>
                <a:spcPts val="1045"/>
              </a:spcBef>
            </a:pP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Keywords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:</a:t>
            </a:r>
            <a:r>
              <a:rPr dirty="0" sz="1400" spc="-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Multi-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40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System,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Generative</a:t>
            </a:r>
            <a:r>
              <a:rPr dirty="0" sz="1400" spc="-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9"/>
                </a:solidFill>
                <a:latin typeface="Calibri"/>
                <a:cs typeface="Calibri"/>
              </a:rPr>
              <a:t>AI,</a:t>
            </a:r>
            <a:r>
              <a:rPr dirty="0" sz="140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CrewAI,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LangChain,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Streamlit,</a:t>
            </a:r>
            <a:r>
              <a:rPr dirty="0" sz="140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AI </a:t>
            </a:r>
            <a:r>
              <a:rPr dirty="0" sz="1400" spc="-10">
                <a:solidFill>
                  <a:srgbClr val="000009"/>
                </a:solidFill>
                <a:latin typeface="Calibri"/>
                <a:cs typeface="Calibri"/>
              </a:rPr>
              <a:t>Education,</a:t>
            </a:r>
            <a:r>
              <a:rPr dirty="0" sz="140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09"/>
                </a:solidFill>
                <a:latin typeface="Calibri"/>
                <a:cs typeface="Calibri"/>
              </a:rPr>
              <a:t>NLP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24737" y="919225"/>
          <a:ext cx="5616575" cy="8167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10"/>
                <a:gridCol w="3897629"/>
                <a:gridCol w="681354"/>
              </a:tblGrid>
              <a:tr h="24257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200"/>
                        </a:lnSpc>
                        <a:spcBef>
                          <a:spcPts val="10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Introduction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1.1</a:t>
                      </a:r>
                      <a:r>
                        <a:rPr dirty="0" sz="1150" spc="3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Identity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Organization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1150" spc="3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150" spc="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4999"/>
                        </a:lnSpc>
                        <a:spcBef>
                          <a:spcPts val="6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Background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2.1</a:t>
                      </a:r>
                      <a:r>
                        <a:rPr dirty="0" sz="1150" spc="3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2.2</a:t>
                      </a:r>
                      <a:r>
                        <a:rPr dirty="0" sz="1150" spc="39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Circumstances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Leading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50" spc="9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150" spc="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2.3</a:t>
                      </a:r>
                      <a:r>
                        <a:rPr dirty="0" sz="1150" spc="3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r>
                        <a:rPr dirty="0" sz="1150" spc="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Already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Carried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50" spc="4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4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1150" spc="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Domain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2.4</a:t>
                      </a:r>
                      <a:r>
                        <a:rPr dirty="0" sz="1150" spc="3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2.5</a:t>
                      </a:r>
                      <a:r>
                        <a:rPr dirty="0" sz="1150" spc="4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1150" spc="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Achieved</a:t>
                      </a:r>
                      <a:r>
                        <a:rPr dirty="0" sz="1150" spc="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50" spc="10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Measurement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200"/>
                        </a:lnSpc>
                        <a:spcBef>
                          <a:spcPts val="14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3.1</a:t>
                      </a:r>
                      <a:r>
                        <a:rPr dirty="0" sz="1150" spc="36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Requirement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3.2</a:t>
                      </a:r>
                      <a:r>
                        <a:rPr dirty="0" sz="1150" spc="3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3.3</a:t>
                      </a:r>
                      <a:r>
                        <a:rPr dirty="0" sz="1150" spc="3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Information</a:t>
                      </a:r>
                      <a:r>
                        <a:rPr dirty="0" sz="1150" spc="4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Flow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Representation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3.4</a:t>
                      </a:r>
                      <a:r>
                        <a:rPr dirty="0" sz="1150" spc="3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Method /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r>
                        <a:rPr dirty="0" sz="1150" spc="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150" spc="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3.5</a:t>
                      </a:r>
                      <a:r>
                        <a:rPr dirty="0" sz="1150" spc="2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Tools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200"/>
                        </a:lnSpc>
                        <a:spcBef>
                          <a:spcPts val="14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4.1</a:t>
                      </a:r>
                      <a:r>
                        <a:rPr dirty="0" sz="1150" spc="3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4.2</a:t>
                      </a:r>
                      <a:r>
                        <a:rPr dirty="0" sz="1150" spc="30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4.3</a:t>
                      </a:r>
                      <a:r>
                        <a:rPr dirty="0" sz="1150" spc="3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dirty="0" sz="1150" spc="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300"/>
                        </a:lnSpc>
                        <a:spcBef>
                          <a:spcPts val="10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5.1</a:t>
                      </a:r>
                      <a:r>
                        <a:rPr dirty="0" sz="1150" spc="3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29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5.2</a:t>
                      </a:r>
                      <a:r>
                        <a:rPr dirty="0" sz="1150" spc="2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5.3</a:t>
                      </a:r>
                      <a:r>
                        <a:rPr dirty="0" sz="1150" spc="2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150" spc="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5.4</a:t>
                      </a:r>
                      <a:r>
                        <a:rPr dirty="0" sz="1150" spc="3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Sample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4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50" spc="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Results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38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300"/>
                        </a:lnSpc>
                        <a:spcBef>
                          <a:spcPts val="13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6.1</a:t>
                      </a:r>
                      <a:r>
                        <a:rPr dirty="0" sz="1150" spc="30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Limitation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4799"/>
                        </a:lnSpc>
                        <a:spcBef>
                          <a:spcPts val="7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8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r>
                        <a:rPr dirty="0" sz="1150" spc="6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50" spc="16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Conclusions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24737" y="919225"/>
          <a:ext cx="5616575" cy="92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10"/>
                <a:gridCol w="3897629"/>
                <a:gridCol w="681354"/>
              </a:tblGrid>
              <a:tr h="443865">
                <a:tc>
                  <a:txBody>
                    <a:bodyPr/>
                    <a:lstStyle/>
                    <a:p>
                      <a:pPr marL="74930" marR="376555">
                        <a:lnSpc>
                          <a:spcPct val="112200"/>
                        </a:lnSpc>
                        <a:spcBef>
                          <a:spcPts val="10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Chapter </a:t>
                      </a:r>
                      <a:r>
                        <a:rPr dirty="0" sz="1150" spc="-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Future</a:t>
                      </a:r>
                      <a:r>
                        <a:rPr dirty="0" sz="1150" spc="6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Appendix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Bibliography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47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92165" cy="748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INTRODUCTION</a:t>
            </a:r>
            <a:endParaRPr sz="14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31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1.1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Identity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Client/Organization</a:t>
            </a:r>
            <a:endParaRPr sz="1400">
              <a:latin typeface="Calibri"/>
              <a:cs typeface="Calibri"/>
            </a:endParaRPr>
          </a:p>
          <a:p>
            <a:pPr algn="just" marL="17145" marR="9525" indent="-5080">
              <a:lnSpc>
                <a:spcPct val="159200"/>
              </a:lnSpc>
              <a:spcBef>
                <a:spcPts val="96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3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proposed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4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4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43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4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AI-driven</a:t>
            </a:r>
            <a:r>
              <a:rPr dirty="0" sz="1150" spc="4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4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4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45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interactive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operates</a:t>
            </a:r>
            <a:r>
              <a:rPr dirty="0" sz="1150" spc="4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4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3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rapidly</a:t>
            </a:r>
            <a:r>
              <a:rPr dirty="0" sz="1150" spc="4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evolving</a:t>
            </a:r>
            <a:r>
              <a:rPr dirty="0" sz="1150" spc="4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technological</a:t>
            </a:r>
            <a:r>
              <a:rPr dirty="0" sz="1150" spc="4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environment</a:t>
            </a:r>
            <a:r>
              <a:rPr dirty="0" sz="1150" spc="4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demand</a:t>
            </a:r>
            <a:r>
              <a:rPr dirty="0" sz="1150" spc="4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personalized,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accurate,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well-organized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resources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continuously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increasing.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address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challenges,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aims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move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beyond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adopt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advanced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powered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Artificial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Intelligence.</a:t>
            </a:r>
            <a:endParaRPr sz="1150">
              <a:latin typeface="Calibri"/>
              <a:cs typeface="Calibri"/>
            </a:endParaRPr>
          </a:p>
          <a:p>
            <a:pPr algn="just" marL="17145" marR="12065" indent="-5080">
              <a:lnSpc>
                <a:spcPct val="159200"/>
              </a:lnSpc>
              <a:spcBef>
                <a:spcPts val="100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primary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goal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seamless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learning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delivering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high-quality,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given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leveraging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modules,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ensures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accurate,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well-organized,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easy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understand.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approach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reduces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dependency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scattered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sources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enhances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knowledge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accessibility.</a:t>
            </a:r>
            <a:endParaRPr sz="1150">
              <a:latin typeface="Calibri"/>
              <a:cs typeface="Calibri"/>
            </a:endParaRPr>
          </a:p>
          <a:p>
            <a:pPr algn="just" marL="17145" marR="9525" indent="-5080">
              <a:lnSpc>
                <a:spcPct val="159800"/>
              </a:lnSpc>
              <a:spcBef>
                <a:spcPts val="100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proposed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scalable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flexible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web-based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capable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of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requests simultaneously.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integrates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frameworks</a:t>
            </a:r>
            <a:r>
              <a:rPr dirty="0" sz="1150" spc="-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3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real-time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generation,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document-based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retrieval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(RAG),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creation.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modular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allows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easy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expansion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features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multilingual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support,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personalization,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other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tools.</a:t>
            </a:r>
            <a:endParaRPr sz="1150">
              <a:latin typeface="Calibri"/>
              <a:cs typeface="Calibri"/>
            </a:endParaRPr>
          </a:p>
          <a:p>
            <a:pPr algn="just" marL="17145" marR="5080" indent="-5080">
              <a:lnSpc>
                <a:spcPct val="158300"/>
              </a:lnSpc>
              <a:spcBef>
                <a:spcPts val="102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Overall,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aligns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vision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creating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modern,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AI-powered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platform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enhances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engagement,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improves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quality,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supports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knowledge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delivery. It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scalable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students, educators,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researchers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promoting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innovation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digital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798185" cy="7863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1.2</a:t>
            </a:r>
            <a:r>
              <a:rPr dirty="0" sz="1400" spc="-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Description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  <a:p>
            <a:pPr marL="17145" marR="5080" indent="-5080">
              <a:lnSpc>
                <a:spcPct val="159900"/>
              </a:lnSpc>
              <a:spcBef>
                <a:spcPts val="95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web-based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a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centralized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agents.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replace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methods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single-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model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automated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digital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enabling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users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access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high-quality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resources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anytime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anywhere.</a:t>
            </a:r>
            <a:endParaRPr sz="1150">
              <a:latin typeface="Calibri"/>
              <a:cs typeface="Calibri"/>
            </a:endParaRPr>
          </a:p>
          <a:p>
            <a:pPr marL="17145" marR="113030" indent="-5080">
              <a:lnSpc>
                <a:spcPct val="158200"/>
              </a:lnSpc>
              <a:spcBef>
                <a:spcPts val="113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primary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purpose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simplify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exploring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understanding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complex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accuracy,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clarity,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presentation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information.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allows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receive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detailed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organized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AI-generated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insights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time.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Additionally,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access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summarized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information, structured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outputs,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representations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images,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them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better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retain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knowledge.</a:t>
            </a:r>
            <a:endParaRPr sz="1150">
              <a:latin typeface="Calibri"/>
              <a:cs typeface="Calibri"/>
            </a:endParaRPr>
          </a:p>
          <a:p>
            <a:pPr marL="17145" marR="86995" indent="-5080">
              <a:lnSpc>
                <a:spcPct val="159200"/>
              </a:lnSpc>
              <a:spcBef>
                <a:spcPts val="104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perspective,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collaborate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specific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tasks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as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research,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summarization.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work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together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relevant,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well-structured.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approach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efficient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compared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systems.</a:t>
            </a:r>
            <a:endParaRPr sz="1150">
              <a:latin typeface="Calibri"/>
              <a:cs typeface="Calibri"/>
            </a:endParaRPr>
          </a:p>
          <a:p>
            <a:pPr marL="17145" marR="48260" indent="-5080">
              <a:lnSpc>
                <a:spcPct val="159200"/>
              </a:lnSpc>
              <a:spcBef>
                <a:spcPts val="101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technologies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scalability,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performance,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maintainability.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built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Streamlit,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simple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interactive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interface.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advanced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AI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frameworks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LangChain,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along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generation.</a:t>
            </a:r>
            <a:endParaRPr sz="1150">
              <a:latin typeface="Calibri"/>
              <a:cs typeface="Calibri"/>
            </a:endParaRPr>
          </a:p>
          <a:p>
            <a:pPr marL="17145" marR="34925" indent="-5080">
              <a:lnSpc>
                <a:spcPct val="159200"/>
              </a:lnSpc>
              <a:spcBef>
                <a:spcPts val="101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modular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clearly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user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interaction,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visualization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modules.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supports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retrieval-based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flexibility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ease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expansion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enhancements.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95975" cy="7849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2: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BACKGROUND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Calibri"/>
              <a:cs typeface="Calibri"/>
            </a:endParaRPr>
          </a:p>
          <a:p>
            <a:pPr algn="just" lvl="1" marL="276225" indent="-263525">
              <a:lnSpc>
                <a:spcPct val="100000"/>
              </a:lnSpc>
              <a:buClr>
                <a:srgbClr val="000009"/>
              </a:buClr>
              <a:buFont typeface="Calibri"/>
              <a:buAutoNum type="arabicPeriod"/>
              <a:tabLst>
                <a:tab pos="276225" algn="l"/>
              </a:tabLst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Description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Existing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  <a:p>
            <a:pPr algn="just" marL="17145" marR="12065" indent="-5080">
              <a:lnSpc>
                <a:spcPct val="159200"/>
              </a:lnSpc>
              <a:spcBef>
                <a:spcPts val="38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existing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domain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primarily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rely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methods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single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unstructured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generic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outputs.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Most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platforms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provide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static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notes,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videos,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chatbot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responses,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lack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depth,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structure,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contextual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understanding.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Additionally,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effectively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complex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queries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well-organized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making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difficult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gain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complete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knowledge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topic.</a:t>
            </a:r>
            <a:endParaRPr sz="1150">
              <a:latin typeface="Calibri"/>
              <a:cs typeface="Calibri"/>
            </a:endParaRPr>
          </a:p>
          <a:p>
            <a:pPr algn="just" marL="17145" marR="8890" indent="-5080">
              <a:lnSpc>
                <a:spcPct val="158300"/>
              </a:lnSpc>
              <a:spcBef>
                <a:spcPts val="98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often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refer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sources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gather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information,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leading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inefficiency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confusion.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centralized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integrates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summarization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single</a:t>
            </a:r>
            <a:r>
              <a:rPr dirty="0" sz="1150" spc="3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workflow.</a:t>
            </a:r>
            <a:r>
              <a:rPr dirty="0" sz="1150" spc="3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Moreover,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absence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3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intelligent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coordination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experience.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50">
              <a:latin typeface="Calibri"/>
              <a:cs typeface="Calibri"/>
            </a:endParaRPr>
          </a:p>
          <a:p>
            <a:pPr algn="just" lvl="1" marL="276225" indent="-263525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2"/>
              <a:tabLst>
                <a:tab pos="276225" algn="l"/>
              </a:tabLst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Circumstances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Leading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New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  <a:p>
            <a:pPr algn="just" marL="17145" marR="5080" indent="31750">
              <a:lnSpc>
                <a:spcPct val="158400"/>
              </a:lnSpc>
              <a:spcBef>
                <a:spcPts val="100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new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arises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limitations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existing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based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platforms.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rapid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advancement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Artificial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Intelligence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increasing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demand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personalized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learning,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expect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accurate,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easily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understandable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time.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capable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fulfilling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expectations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efficiently.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Key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factors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leading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new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include:</a:t>
            </a: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85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Increasing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demand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AI-driven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platforms</a:t>
            </a: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85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well-organized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81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Requirement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real-time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insights</a:t>
            </a: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85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Difficulty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understanding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complex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scattered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resources</a:t>
            </a: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780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unified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research,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endParaRPr sz="1150">
              <a:latin typeface="Calibri"/>
              <a:cs typeface="Calibri"/>
            </a:endParaRPr>
          </a:p>
          <a:p>
            <a:pPr algn="just" marL="17145" marR="26670" indent="-5080">
              <a:lnSpc>
                <a:spcPct val="159100"/>
              </a:lnSpc>
              <a:spcBef>
                <a:spcPts val="104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factors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highlight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importance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developing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modern,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can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adend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high-quality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91530" cy="77539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2.3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Work</a:t>
            </a:r>
            <a:r>
              <a:rPr dirty="0" sz="140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Already</a:t>
            </a:r>
            <a:r>
              <a:rPr dirty="0" sz="14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Carried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Out</a:t>
            </a:r>
            <a:endParaRPr sz="1400">
              <a:latin typeface="Calibri"/>
              <a:cs typeface="Calibri"/>
            </a:endParaRPr>
          </a:p>
          <a:p>
            <a:pPr algn="just" marL="17145" marR="8255" indent="-5080">
              <a:lnSpc>
                <a:spcPct val="158400"/>
              </a:lnSpc>
              <a:spcBef>
                <a:spcPts val="969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Several</a:t>
            </a:r>
            <a:r>
              <a:rPr dirty="0" sz="1150" spc="3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platforms</a:t>
            </a:r>
            <a:r>
              <a:rPr dirty="0" sz="1150" spc="4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</a:t>
            </a:r>
            <a:r>
              <a:rPr dirty="0" sz="1150" spc="3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already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available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domain,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large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language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model-based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chat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knowledge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retrieval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tools.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platforms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basic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functionalities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answering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questions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text-based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However,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many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have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certain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limitations:</a:t>
            </a:r>
            <a:endParaRPr sz="1150">
              <a:latin typeface="Calibri"/>
              <a:cs typeface="Calibri"/>
            </a:endParaRPr>
          </a:p>
          <a:p>
            <a:pPr algn="just" marL="121920" indent="-109220">
              <a:lnSpc>
                <a:spcPct val="100000"/>
              </a:lnSpc>
              <a:spcBef>
                <a:spcPts val="819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Lack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collaboration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850"/>
              </a:spcBef>
              <a:buChar char="•"/>
              <a:tabLst>
                <a:tab pos="12192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Unstructured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sometimes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inaccurate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819"/>
              </a:spcBef>
              <a:buChar char="•"/>
              <a:tabLst>
                <a:tab pos="12192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Limited visualization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explanation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capabilities</a:t>
            </a:r>
            <a:endParaRPr sz="1150">
              <a:latin typeface="Calibri"/>
              <a:cs typeface="Calibri"/>
            </a:endParaRPr>
          </a:p>
          <a:p>
            <a:pPr algn="just" marL="121920" indent="-109220">
              <a:lnSpc>
                <a:spcPct val="100000"/>
              </a:lnSpc>
              <a:spcBef>
                <a:spcPts val="81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single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endParaRPr sz="1150">
              <a:latin typeface="Calibri"/>
              <a:cs typeface="Calibri"/>
            </a:endParaRPr>
          </a:p>
          <a:p>
            <a:pPr algn="just" marL="17145" marR="5080" indent="-5080">
              <a:lnSpc>
                <a:spcPct val="157400"/>
              </a:lnSpc>
              <a:spcBef>
                <a:spcPts val="107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current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builds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upon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existing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technologies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introducing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150" spc="4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accurate,</a:t>
            </a:r>
            <a:r>
              <a:rPr dirty="0" sz="1150" spc="4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well-organized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generation.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improving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user-friendly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learning experience.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2.4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Objective</a:t>
            </a:r>
            <a:r>
              <a:rPr dirty="0" sz="14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400" spc="-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  <a:p>
            <a:pPr algn="just" marL="17145" marR="8255" indent="-5080">
              <a:lnSpc>
                <a:spcPct val="159200"/>
              </a:lnSpc>
              <a:spcBef>
                <a:spcPts val="96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objective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comprehensive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AI-powered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that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meaningful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educational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content.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aims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understanding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complex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topics.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Specific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objectives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include:</a:t>
            </a:r>
            <a:endParaRPr sz="1150">
              <a:latin typeface="Calibri"/>
              <a:cs typeface="Calibri"/>
            </a:endParaRPr>
          </a:p>
          <a:p>
            <a:pPr algn="just" marL="121920" indent="-109220">
              <a:lnSpc>
                <a:spcPct val="100000"/>
              </a:lnSpc>
              <a:spcBef>
                <a:spcPts val="88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endParaRPr sz="1150">
              <a:latin typeface="Calibri"/>
              <a:cs typeface="Calibri"/>
            </a:endParaRPr>
          </a:p>
          <a:p>
            <a:pPr algn="just" marL="121920" indent="-109220">
              <a:lnSpc>
                <a:spcPct val="100000"/>
              </a:lnSpc>
              <a:spcBef>
                <a:spcPts val="819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815"/>
              </a:spcBef>
              <a:buChar char="•"/>
              <a:tabLst>
                <a:tab pos="12192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 integrate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research,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819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interactive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endParaRPr sz="1150">
              <a:latin typeface="Calibri"/>
              <a:cs typeface="Calibri"/>
            </a:endParaRPr>
          </a:p>
          <a:p>
            <a:pPr algn="just" marL="121920" indent="-109220">
              <a:lnSpc>
                <a:spcPct val="100000"/>
              </a:lnSpc>
              <a:spcBef>
                <a:spcPts val="81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efficiency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AI-generated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insights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61685" cy="290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2.5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Measurement</a:t>
            </a:r>
            <a:r>
              <a:rPr dirty="0" sz="14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Achievement</a:t>
            </a:r>
            <a:endParaRPr sz="1400">
              <a:latin typeface="Calibri"/>
              <a:cs typeface="Calibri"/>
            </a:endParaRPr>
          </a:p>
          <a:p>
            <a:pPr marL="17145" marR="5080" indent="-5080">
              <a:lnSpc>
                <a:spcPct val="120100"/>
              </a:lnSpc>
              <a:spcBef>
                <a:spcPts val="1500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 success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evaluated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several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measurable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factors.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metrics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determine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whether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objectives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have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achieved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effectively.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Key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indicators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include: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1320"/>
              </a:spcBef>
              <a:buFont typeface="Calibri"/>
              <a:buChar char="•"/>
              <a:tabLst>
                <a:tab pos="12192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Efficiency: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Faster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1285"/>
              </a:spcBef>
              <a:buFont typeface="Calibri"/>
              <a:buChar char="•"/>
              <a:tabLst>
                <a:tab pos="12192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Accuracy:</a:t>
            </a:r>
            <a:r>
              <a:rPr dirty="0" sz="1150" spc="1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1320"/>
              </a:spcBef>
              <a:buFont typeface="Calibri"/>
              <a:buChar char="•"/>
              <a:tabLst>
                <a:tab pos="12192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Satisfaction:</a:t>
            </a:r>
            <a:r>
              <a:rPr dirty="0" sz="11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Better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1320"/>
              </a:spcBef>
              <a:buFont typeface="Calibri"/>
              <a:buChar char="•"/>
              <a:tabLst>
                <a:tab pos="12192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Performance:</a:t>
            </a:r>
            <a:r>
              <a:rPr dirty="0" sz="1150" spc="1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Quick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time</a:t>
            </a:r>
            <a:endParaRPr sz="1150">
              <a:latin typeface="Calibri"/>
              <a:cs typeface="Calibri"/>
            </a:endParaRPr>
          </a:p>
          <a:p>
            <a:pPr marL="121920" indent="-109220">
              <a:lnSpc>
                <a:spcPct val="100000"/>
              </a:lnSpc>
              <a:spcBef>
                <a:spcPts val="1360"/>
              </a:spcBef>
              <a:buFont typeface="Calibri"/>
              <a:buChar char="•"/>
              <a:tabLst>
                <a:tab pos="12192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Scalability:</a:t>
            </a:r>
            <a:r>
              <a:rPr dirty="0" sz="1150" spc="1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expansion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44041" y="897762"/>
            <a:ext cx="5924550" cy="7698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556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3: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lvl="1" marL="276225" indent="-263525">
              <a:lnSpc>
                <a:spcPct val="100000"/>
              </a:lnSpc>
              <a:spcBef>
                <a:spcPts val="1310"/>
              </a:spcBef>
              <a:buClr>
                <a:srgbClr val="000009"/>
              </a:buClr>
              <a:buFont typeface="Calibri"/>
              <a:buAutoNum type="arabicPeriod"/>
              <a:tabLst>
                <a:tab pos="276225" algn="l"/>
              </a:tabLst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Requirement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algn="just" marL="48895" marR="5080" indent="-5080">
              <a:lnSpc>
                <a:spcPct val="118700"/>
              </a:lnSpc>
              <a:spcBef>
                <a:spcPts val="105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Requirement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non-functional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needs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performance.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what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should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how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behave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conditions.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50">
              <a:latin typeface="Calibri"/>
              <a:cs typeface="Calibri"/>
            </a:endParaRPr>
          </a:p>
          <a:p>
            <a:pPr algn="just" marL="44450">
              <a:lnSpc>
                <a:spcPct val="100000"/>
              </a:lnSpc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1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Requirements: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50">
              <a:latin typeface="Calibri"/>
              <a:cs typeface="Calibri"/>
            </a:endParaRPr>
          </a:p>
          <a:p>
            <a:pPr lvl="2" marL="264160" marR="66040" indent="-229235">
              <a:lnSpc>
                <a:spcPct val="12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Interaction: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able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queries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receive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marR="174625" indent="-229235">
              <a:lnSpc>
                <a:spcPct val="12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Processing: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working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collaboratively,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each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specific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task.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marR="47625" indent="-229235">
              <a:lnSpc>
                <a:spcPct val="12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Generation: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summaries,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meaningful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0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marR="28575" indent="-229235">
              <a:lnSpc>
                <a:spcPct val="1201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(RAG):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PDF-based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retrieval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combine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retrieved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AI-generated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responses.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8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marR="43180" indent="-229235">
              <a:lnSpc>
                <a:spcPct val="1176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Visualization: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images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diagrams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represent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information clearly.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Control: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coordination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agents.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algn="just" marL="4445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Non-Functional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Requirements: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Performance: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quickly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queries.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Security: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secure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usage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handling.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Scalability: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enhancements.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Reliability: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consistent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lvl="2" marL="264160" indent="-229235">
              <a:lnSpc>
                <a:spcPct val="100000"/>
              </a:lnSpc>
              <a:buSzPct val="86956"/>
              <a:buFont typeface="Symbol"/>
              <a:buChar char=""/>
              <a:tabLst>
                <a:tab pos="2641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should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friendly.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5708015" cy="8152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3.2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Analysis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Calibri"/>
              <a:cs typeface="Calibri"/>
            </a:endParaRPr>
          </a:p>
          <a:p>
            <a:pPr marL="26034" marR="30480" indent="-5080">
              <a:lnSpc>
                <a:spcPct val="1175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AI-driven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clearly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work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together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(End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User):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Searches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enters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topics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endParaRPr sz="1150">
              <a:latin typeface="Calibri"/>
              <a:cs typeface="Calibri"/>
            </a:endParaRPr>
          </a:p>
          <a:p>
            <a:pPr marL="21590" marR="3643629" indent="-9525">
              <a:lnSpc>
                <a:spcPct val="232300"/>
              </a:lnSpc>
              <a:spcBef>
                <a:spcPts val="35"/>
              </a:spcBef>
              <a:buSzPct val="86956"/>
              <a:buFont typeface="Symbol"/>
              <a:buChar char=""/>
              <a:tabLst>
                <a:tab pos="2159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Interacts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collection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Analyze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summaries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explanations</a:t>
            </a:r>
            <a:endParaRPr sz="1150">
              <a:latin typeface="Calibri"/>
              <a:cs typeface="Calibri"/>
            </a:endParaRPr>
          </a:p>
          <a:p>
            <a:pPr marL="21590" marR="3642995" indent="-9525">
              <a:lnSpc>
                <a:spcPts val="3210"/>
              </a:lnSpc>
              <a:spcBef>
                <a:spcPts val="405"/>
              </a:spcBef>
              <a:buSzPct val="86956"/>
              <a:buFont typeface="Symbol"/>
              <a:buChar char=""/>
              <a:tabLst>
                <a:tab pos="2159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Collaborate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other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(Backend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Processing):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smooth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flow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3.3</a:t>
            </a:r>
            <a:r>
              <a:rPr dirty="0" sz="1150" spc="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r>
              <a:rPr dirty="0" sz="1150" spc="9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Flow</a:t>
            </a:r>
            <a:r>
              <a:rPr dirty="0" sz="1150" spc="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Representation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layered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processing.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Calibri"/>
              <a:cs typeface="Calibri"/>
            </a:endParaRPr>
          </a:p>
          <a:p>
            <a:pPr marL="26034" marR="320040" indent="-5080">
              <a:lnSpc>
                <a:spcPct val="1174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Interaction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(Frontend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-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Streamlit):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queries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results.</a:t>
            </a:r>
            <a:endParaRPr sz="115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31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(Backend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-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Python):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agents,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68502"/>
            <a:ext cx="5771515" cy="797052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36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applies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logic.</a:t>
            </a:r>
            <a:endParaRPr sz="115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28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(External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APIs):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services.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Flow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Sequence: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sends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calls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calls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return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sends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3.4</a:t>
            </a:r>
            <a:r>
              <a:rPr dirty="0" sz="1150" spc="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Method/Technology</a:t>
            </a:r>
            <a:r>
              <a:rPr dirty="0" sz="1150" spc="1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Calibri"/>
              <a:cs typeface="Calibri"/>
            </a:endParaRPr>
          </a:p>
          <a:p>
            <a:pPr marL="26034" marR="5080" indent="-5080">
              <a:lnSpc>
                <a:spcPct val="1174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technologies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performance,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scalability,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flexibility.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Technology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Stack: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Frontend: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Streamlit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Backend: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Frameworks: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LangChain</a:t>
            </a:r>
            <a:endParaRPr sz="1150">
              <a:latin typeface="Calibri"/>
              <a:cs typeface="Calibri"/>
            </a:endParaRPr>
          </a:p>
          <a:p>
            <a:pPr marL="21590" marR="4005579" indent="-9525">
              <a:lnSpc>
                <a:spcPts val="3210"/>
              </a:lnSpc>
              <a:spcBef>
                <a:spcPts val="405"/>
              </a:spcBef>
              <a:buSzPct val="86956"/>
              <a:buFont typeface="Symbol"/>
              <a:buChar char=""/>
              <a:tabLst>
                <a:tab pos="2159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APIs: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Groq,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Approach: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Modular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API-based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integrating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JSON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format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exchange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4017010" cy="2649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flexible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3.5</a:t>
            </a:r>
            <a:r>
              <a:rPr dirty="0" sz="1150" spc="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-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Tools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essential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reliability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performance.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Pytest: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logic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functionality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Postman: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Manual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Testing: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Logging: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debugging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monitoring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behavior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89625" cy="476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47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4: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00">
              <a:latin typeface="Calibri"/>
              <a:cs typeface="Calibri"/>
            </a:endParaRPr>
          </a:p>
          <a:p>
            <a:pPr lvl="1" marL="276225" indent="-263525">
              <a:lnSpc>
                <a:spcPct val="100000"/>
              </a:lnSpc>
              <a:buClr>
                <a:srgbClr val="000009"/>
              </a:buClr>
              <a:buFont typeface="Calibri"/>
              <a:buAutoNum type="arabicPeriod"/>
              <a:tabLst>
                <a:tab pos="276225" algn="l"/>
              </a:tabLst>
            </a:pP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  <a:p>
            <a:pPr marL="17145" marR="30480" indent="-5080">
              <a:lnSpc>
                <a:spcPct val="159100"/>
              </a:lnSpc>
              <a:spcBef>
                <a:spcPts val="960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proposed</a:t>
            </a:r>
            <a:r>
              <a:rPr dirty="0" sz="115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mulit-layered</a:t>
            </a:r>
            <a:r>
              <a:rPr dirty="0" sz="1150" spc="-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,</a:t>
            </a:r>
            <a:r>
              <a:rPr dirty="0" sz="115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separates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into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three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distinct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layers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scalability,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maintainability,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performance.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Layers</a:t>
            </a:r>
            <a:r>
              <a:rPr dirty="0" sz="1150" spc="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Architecture:</a:t>
            </a:r>
            <a:endParaRPr sz="1150">
              <a:latin typeface="Calibri"/>
              <a:cs typeface="Calibri"/>
            </a:endParaRPr>
          </a:p>
          <a:p>
            <a:pPr algn="just" lvl="2" marL="478790" marR="5080" indent="-228600">
              <a:lnSpc>
                <a:spcPct val="157900"/>
              </a:lnSpc>
              <a:spcBef>
                <a:spcPts val="1240"/>
              </a:spcBef>
              <a:buFont typeface="Calibri"/>
              <a:buAutoNum type="arabicPeriod"/>
              <a:tabLst>
                <a:tab pos="47879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Presentation</a:t>
            </a:r>
            <a:r>
              <a:rPr dirty="0" sz="1150" spc="3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3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(Frontend</a:t>
            </a:r>
            <a:r>
              <a:rPr dirty="0" sz="1150" spc="4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150" spc="3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Streamlit/):</a:t>
            </a:r>
            <a:r>
              <a:rPr dirty="0" sz="1150" spc="3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 which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summaries,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visualizations.</a:t>
            </a:r>
            <a:endParaRPr sz="1150">
              <a:latin typeface="Calibri"/>
              <a:cs typeface="Calibri"/>
            </a:endParaRPr>
          </a:p>
          <a:p>
            <a:pPr algn="just" lvl="2" marL="478790" marR="12700" indent="-228600">
              <a:lnSpc>
                <a:spcPct val="159200"/>
              </a:lnSpc>
              <a:spcBef>
                <a:spcPts val="1225"/>
              </a:spcBef>
              <a:buFont typeface="Calibri"/>
              <a:buAutoNum type="arabicPeriod"/>
              <a:tabLst>
                <a:tab pos="47879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Business</a:t>
            </a:r>
            <a:r>
              <a:rPr dirty="0" sz="1150" spc="1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Logic</a:t>
            </a:r>
            <a:r>
              <a:rPr dirty="0" sz="1150" spc="1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1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(Backend</a:t>
            </a:r>
            <a:r>
              <a:rPr dirty="0" sz="1150" spc="2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150" spc="1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Python):</a:t>
            </a:r>
            <a:r>
              <a:rPr dirty="0" sz="1150" spc="1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input,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manages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AI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applies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logic,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controls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handles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services.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000009"/>
              </a:buClr>
              <a:buFont typeface="Calibri"/>
              <a:buAutoNum type="arabicPeriod"/>
            </a:pPr>
            <a:endParaRPr sz="1150">
              <a:latin typeface="Calibri"/>
              <a:cs typeface="Calibri"/>
            </a:endParaRPr>
          </a:p>
          <a:p>
            <a:pPr algn="just" lvl="2" marL="478790" marR="10795" indent="-228600">
              <a:lnSpc>
                <a:spcPct val="157900"/>
              </a:lnSpc>
              <a:buFont typeface="Calibri"/>
              <a:buAutoNum type="arabicPeriod"/>
              <a:tabLst>
                <a:tab pos="47879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2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Service</a:t>
            </a:r>
            <a:r>
              <a:rPr dirty="0" sz="1150" spc="2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2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(External</a:t>
            </a:r>
            <a:r>
              <a:rPr dirty="0" sz="1150" spc="2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 spc="3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–</a:t>
            </a:r>
            <a:r>
              <a:rPr dirty="0" sz="1150" spc="2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Groq,</a:t>
            </a:r>
            <a:r>
              <a:rPr dirty="0" sz="1150" spc="2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3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Face):</a:t>
            </a:r>
            <a:r>
              <a:rPr dirty="0" sz="1150" spc="3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responsible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performing</a:t>
            </a:r>
            <a:r>
              <a:rPr dirty="0" sz="1150" spc="4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4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4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including</a:t>
            </a:r>
            <a:r>
              <a:rPr dirty="0" sz="115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4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generation,</a:t>
            </a:r>
            <a:r>
              <a:rPr dirty="0" sz="1150" spc="4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45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image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creation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models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APIs.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1106163"/>
            <a:ext cx="5885815" cy="220726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2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4.1.1</a:t>
            </a:r>
            <a:r>
              <a:rPr dirty="0" sz="14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Activity</a:t>
            </a:r>
            <a:r>
              <a:rPr dirty="0" sz="1400" spc="-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algn="just" marL="26034" marR="5080" indent="-5080">
              <a:lnSpc>
                <a:spcPct val="118800"/>
              </a:lnSpc>
              <a:spcBef>
                <a:spcPts val="22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represents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complete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from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final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starts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opens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optionally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uploads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sends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validation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performed.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If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a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uploaded,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extracting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text,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cleaning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selecting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relevant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then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triggers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4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Groq,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r>
              <a:rPr dirty="0" sz="1150" spc="4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4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4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outputs.</a:t>
            </a:r>
            <a:r>
              <a:rPr dirty="0" sz="115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Simultaneously,</a:t>
            </a:r>
            <a:r>
              <a:rPr dirty="0" sz="1150" spc="4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4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</a:t>
            </a:r>
            <a:r>
              <a:rPr dirty="0" sz="1150" spc="4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If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step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fails,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fallback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mechanisms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applied.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Finally,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returned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user.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205" y="3512820"/>
            <a:ext cx="5772658" cy="5168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1076237"/>
            <a:ext cx="5892800" cy="19177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4.1.2</a:t>
            </a:r>
            <a:r>
              <a:rPr dirty="0" sz="1400" spc="-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Usecase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marL="26034" marR="13970" indent="-5080">
              <a:lnSpc>
                <a:spcPts val="1620"/>
              </a:lnSpc>
              <a:spcBef>
                <a:spcPts val="4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shows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how</a:t>
            </a:r>
            <a:r>
              <a:rPr dirty="0" sz="1150" spc="3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3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interacts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what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functionalities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are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provided.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actor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(student/researcher),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who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open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application,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enter</a:t>
            </a:r>
            <a:endParaRPr sz="1150">
              <a:latin typeface="Calibri"/>
              <a:cs typeface="Calibri"/>
            </a:endParaRPr>
          </a:p>
          <a:p>
            <a:pPr marL="26034" marR="6350">
              <a:lnSpc>
                <a:spcPts val="1620"/>
              </a:lnSpc>
              <a:spcBef>
                <a:spcPts val="4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optionally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"Generate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Summary,"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which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internal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validating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topic,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searching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web,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running</a:t>
            </a:r>
            <a:endParaRPr sz="1150">
              <a:latin typeface="Calibri"/>
              <a:cs typeface="Calibri"/>
            </a:endParaRPr>
          </a:p>
          <a:p>
            <a:pPr marL="26034" marR="5080">
              <a:lnSpc>
                <a:spcPts val="162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outputs.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supports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additional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features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images,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teaching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summaries,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notes,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raw</a:t>
            </a:r>
            <a:endParaRPr sz="1150">
              <a:latin typeface="Calibri"/>
              <a:cs typeface="Calibri"/>
            </a:endParaRPr>
          </a:p>
          <a:p>
            <a:pPr marL="26034" marR="20955">
              <a:lnSpc>
                <a:spcPts val="1620"/>
              </a:lnSpc>
              <a:spcBef>
                <a:spcPts val="4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DuckDuckGo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(for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search),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(for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processing),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(for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generation)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involved.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285" y="3193414"/>
            <a:ext cx="5755640" cy="507149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897762"/>
            <a:ext cx="5891530" cy="179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4.1.3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ER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algn="just" marL="26034" marR="5080" indent="-5080">
              <a:lnSpc>
                <a:spcPct val="118300"/>
              </a:lnSpc>
              <a:spcBef>
                <a:spcPts val="80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represents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database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entity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User,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creates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Each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linked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PDFs,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images.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entities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CrewRun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represent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execution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their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roles.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Tasks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associated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specific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operations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processing.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Additional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entities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PDFContext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Settings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extracted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configuration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details.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relationships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entities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storage,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retrieval,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management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560" y="2894329"/>
            <a:ext cx="5180965" cy="36041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897762"/>
            <a:ext cx="6129655" cy="1958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4.1.4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Sequence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algn="just" marL="17145" marR="5080" indent="-5080">
              <a:lnSpc>
                <a:spcPct val="114799"/>
              </a:lnSpc>
              <a:spcBef>
                <a:spcPts val="85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sequence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illustrates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step-by-step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interaction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time.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begins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sends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backend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receives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input,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loads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necessary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settings,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checks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keys.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If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uploaded,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processed;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otherwise,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default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web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search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executes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CrewAI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workflow,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summarization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tasks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completed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LLM.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sent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API.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responses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collected,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formatted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JSON,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sent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handling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stages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reliability.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555" y="2973704"/>
            <a:ext cx="5820029" cy="54616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827395" cy="816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4.2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  <a:p>
            <a:pPr marL="17145" marR="27940" indent="-5080">
              <a:lnSpc>
                <a:spcPct val="118300"/>
              </a:lnSpc>
              <a:spcBef>
                <a:spcPts val="91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clean,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user-friendly,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interactive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simplicity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easily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their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understand</a:t>
            </a:r>
            <a:r>
              <a:rPr dirty="0" sz="1150" spc="5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confusion.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dark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theme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layout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with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clearly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separated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sections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50">
              <a:latin typeface="Calibri"/>
              <a:cs typeface="Calibri"/>
            </a:endParaRPr>
          </a:p>
          <a:p>
            <a:pPr marL="17145" marR="178435" indent="-5080">
              <a:lnSpc>
                <a:spcPct val="1174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mainly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divided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into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two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sections: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panel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left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side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output/visualization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panel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right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side.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layout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helps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interact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efficiently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time.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50">
              <a:latin typeface="Calibri"/>
              <a:cs typeface="Calibri"/>
            </a:endParaRPr>
          </a:p>
          <a:p>
            <a:pPr marL="17145" marR="106045" indent="-5080">
              <a:lnSpc>
                <a:spcPct val="1192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left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panel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taking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input.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top,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title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"Research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Studio"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displayed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along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short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description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explains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purpose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Below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query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field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where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"what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AI."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box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placeholder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text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guide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users.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50">
              <a:latin typeface="Calibri"/>
              <a:cs typeface="Calibri"/>
            </a:endParaRPr>
          </a:p>
          <a:p>
            <a:pPr algn="just" marL="17145" marR="109220" indent="-5080">
              <a:lnSpc>
                <a:spcPct val="1187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Below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query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input,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there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option.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either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drag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drop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file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choose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file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manually.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feature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allows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document-based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better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RAG.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150">
              <a:latin typeface="Calibri"/>
              <a:cs typeface="Calibri"/>
            </a:endParaRPr>
          </a:p>
          <a:p>
            <a:pPr marL="17145" marR="132080" indent="-5080">
              <a:lnSpc>
                <a:spcPct val="1175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"Generate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Summary"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button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below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section.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button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acts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trigger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clicks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starts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button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changes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state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"Generating,"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indicating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is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working.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50">
              <a:latin typeface="Calibri"/>
              <a:cs typeface="Calibri"/>
            </a:endParaRPr>
          </a:p>
          <a:p>
            <a:pPr algn="just" marL="17145" marR="8890" indent="-5080">
              <a:lnSpc>
                <a:spcPct val="1188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left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panel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model-related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information,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showing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Groq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RAG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enabled.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gives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idea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about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technology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backend.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50">
              <a:latin typeface="Calibri"/>
              <a:cs typeface="Calibri"/>
            </a:endParaRPr>
          </a:p>
          <a:p>
            <a:pPr algn="just" marL="17145" marR="274320" indent="-5080">
              <a:lnSpc>
                <a:spcPct val="1187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right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panel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responsible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Initially,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when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given,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placeholder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message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"Ready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Research,"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guiding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start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50">
              <a:latin typeface="Calibri"/>
              <a:cs typeface="Calibri"/>
            </a:endParaRPr>
          </a:p>
          <a:p>
            <a:pPr marL="17145" marR="67945" indent="-5080">
              <a:lnSpc>
                <a:spcPct val="1183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Once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clicks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button,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enters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state.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progress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bar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appears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section,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stages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ingesting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PDF,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researching,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what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happening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background.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50">
              <a:latin typeface="Calibri"/>
              <a:cs typeface="Calibri"/>
            </a:endParaRPr>
          </a:p>
          <a:p>
            <a:pPr algn="just" marL="17145" marR="5080" indent="-5080">
              <a:lnSpc>
                <a:spcPct val="1174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After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completed,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format.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tabs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Teaching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Summary,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Research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Notes,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Raw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045" y="868502"/>
            <a:ext cx="5763895" cy="39547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145" marR="73660">
              <a:lnSpc>
                <a:spcPct val="120000"/>
              </a:lnSpc>
              <a:spcBef>
                <a:spcPts val="9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switch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tabs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types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content.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teaching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summary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simplified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research notes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detailed information,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raw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shows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complete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system-generated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Calibri"/>
              <a:cs typeface="Calibri"/>
            </a:endParaRPr>
          </a:p>
          <a:p>
            <a:pPr marL="17145" marR="5080" indent="-5080">
              <a:lnSpc>
                <a:spcPct val="1175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dark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theme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readability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reduces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eye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strain.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Important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elements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like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buttons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highlights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contrasting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colors,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making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them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identify.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layout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clean,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properly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spaced,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easy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navigate.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150">
              <a:latin typeface="Calibri"/>
              <a:cs typeface="Calibri"/>
            </a:endParaRPr>
          </a:p>
          <a:p>
            <a:pPr marL="17145" marR="116205" indent="-5080">
              <a:lnSpc>
                <a:spcPct val="1188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feedback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If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missing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incorrect,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validation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messages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shown.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about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current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state.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errors,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appropriate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messages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issue.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Calibri"/>
              <a:cs typeface="Calibri"/>
            </a:endParaRPr>
          </a:p>
          <a:p>
            <a:pPr marL="17145" marR="57150" indent="-5080">
              <a:lnSpc>
                <a:spcPct val="1175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simple,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interactive,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smooth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providing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clear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creating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user-friendly</a:t>
            </a:r>
            <a:r>
              <a:rPr dirty="0" sz="1150" spc="1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responsive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 b="1">
                <a:solidFill>
                  <a:srgbClr val="000009"/>
                </a:solidFill>
                <a:latin typeface="Calibri"/>
                <a:cs typeface="Calibri"/>
              </a:rPr>
              <a:t>UI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Interfaces: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5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</a:pPr>
            <a:r>
              <a:rPr dirty="0" sz="1100" spc="-60" b="1">
                <a:solidFill>
                  <a:srgbClr val="000009"/>
                </a:solidFill>
                <a:latin typeface="Calibri"/>
                <a:cs typeface="Calibri"/>
              </a:rPr>
              <a:t>1.</a:t>
            </a:r>
            <a:r>
              <a:rPr dirty="0" sz="1100" spc="-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Main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Page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305" y="4879340"/>
            <a:ext cx="5558917" cy="37064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301" y="1300099"/>
            <a:ext cx="119951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solidFill>
                  <a:srgbClr val="000009"/>
                </a:solidFill>
                <a:latin typeface="Calibri"/>
                <a:cs typeface="Calibri"/>
              </a:rPr>
              <a:t>2.</a:t>
            </a:r>
            <a:r>
              <a:rPr dirty="0" sz="1100" spc="1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Generating</a:t>
            </a:r>
            <a:r>
              <a:rPr dirty="0" sz="1150" spc="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Page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301" y="5485638"/>
            <a:ext cx="147828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b="1">
                <a:solidFill>
                  <a:srgbClr val="000009"/>
                </a:solidFill>
                <a:latin typeface="Calibri"/>
                <a:cs typeface="Calibri"/>
              </a:rPr>
              <a:t>3.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Summary</a:t>
            </a:r>
            <a:r>
              <a:rPr dirty="0" sz="1150" spc="10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page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1765935"/>
            <a:ext cx="6266053" cy="3463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075" y="5748083"/>
            <a:ext cx="6111875" cy="32445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6881" y="897763"/>
            <a:ext cx="135509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60" b="1">
                <a:solidFill>
                  <a:srgbClr val="000009"/>
                </a:solidFill>
                <a:latin typeface="Calibri"/>
                <a:cs typeface="Calibri"/>
              </a:rPr>
              <a:t>4.</a:t>
            </a:r>
            <a:r>
              <a:rPr dirty="0" sz="1100" spc="-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Text</a:t>
            </a:r>
            <a:r>
              <a:rPr dirty="0" sz="1150" spc="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Summary</a:t>
            </a:r>
            <a:r>
              <a:rPr dirty="0" sz="11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Page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1292860"/>
            <a:ext cx="6226809" cy="34270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85189" y="897762"/>
            <a:ext cx="6120765" cy="8079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5: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algn="just" marL="12700" marR="6985">
              <a:lnSpc>
                <a:spcPct val="114199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essential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phase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software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lifecycle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works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correctly,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efficiently,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reliably.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helps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identifying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defects,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validating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behavior,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improving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before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deployment.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project,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performed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levels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functionality,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performance,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integration,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usability.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3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both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automated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manual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approaches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accuracy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stability.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5080">
              <a:lnSpc>
                <a:spcPct val="114900"/>
              </a:lnSpc>
              <a:spcBef>
                <a:spcPts val="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architecture,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integrations,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RAG-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based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properly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conditions.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Special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attention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given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validating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AI-generated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they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must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meaningful,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relevant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queries.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5.1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Scope</a:t>
            </a:r>
            <a:r>
              <a:rPr dirty="0" sz="1400" spc="-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libri"/>
              <a:cs typeface="Calibri"/>
            </a:endParaRPr>
          </a:p>
          <a:p>
            <a:pPr algn="just" marL="12700" marR="12700">
              <a:lnSpc>
                <a:spcPct val="114799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scope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boundaries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objectives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process.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all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major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functionalities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properly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evaluated.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8255">
              <a:lnSpc>
                <a:spcPct val="1149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verifying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requirements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35">
                <a:solidFill>
                  <a:srgbClr val="000009"/>
                </a:solidFill>
                <a:latin typeface="Calibri"/>
                <a:cs typeface="Calibri"/>
              </a:rPr>
              <a:t>suc</a:t>
            </a:r>
            <a:r>
              <a:rPr dirty="0" sz="115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generation,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summarization,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4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handling,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visualization.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3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4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3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6350">
              <a:lnSpc>
                <a:spcPct val="113599"/>
              </a:lnSpc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key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part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-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scope.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(Streamlit),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(Python),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(Groq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Face).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ensures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communicate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effectively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exchange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errors.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14604">
              <a:lnSpc>
                <a:spcPct val="114799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Another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important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area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behavior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conditions.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tested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inputs,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invalid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inputs,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empty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inputs,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edge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cases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stability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robustness.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helps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identifying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how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reacts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unexpected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scenarios.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9525">
              <a:lnSpc>
                <a:spcPct val="114799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responsiveness,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accessibility.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easily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inputs,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view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confusion.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5080">
              <a:lnSpc>
                <a:spcPct val="1149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part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scope.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responds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quickly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delays.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important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real-time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where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expect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fast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50">
              <a:latin typeface="Calibri"/>
              <a:cs typeface="Calibri"/>
            </a:endParaRPr>
          </a:p>
          <a:p>
            <a:pPr algn="just" marL="12700" marR="15875">
              <a:lnSpc>
                <a:spcPct val="114999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Overall,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scope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covers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correctness,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integration,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performance,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experience.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2"/>
            <a:ext cx="6087745" cy="37928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5.2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30" b="1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400" spc="-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0009"/>
                </a:solidFill>
                <a:latin typeface="Calibri"/>
                <a:cs typeface="Calibri"/>
              </a:rPr>
              <a:t>Plan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Calibri"/>
              <a:cs typeface="Calibri"/>
            </a:endParaRPr>
          </a:p>
          <a:p>
            <a:pPr marL="30480" marR="5080">
              <a:lnSpc>
                <a:spcPct val="1097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defines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strategy,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approach,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environment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It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acts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roadmap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conducting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systematic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organized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testing.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5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</a:pP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Objectives: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identify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eliminate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bugs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features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expected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stability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conditions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time</a:t>
            </a:r>
            <a:endParaRPr sz="1150">
              <a:latin typeface="Calibri"/>
              <a:cs typeface="Calibri"/>
            </a:endParaRPr>
          </a:p>
          <a:p>
            <a:pPr marL="30480" marR="3400425" indent="-18415">
              <a:lnSpc>
                <a:spcPts val="3310"/>
              </a:lnSpc>
              <a:spcBef>
                <a:spcPts val="200"/>
              </a:spcBef>
              <a:buSzPct val="86956"/>
              <a:buFont typeface="Symbol"/>
              <a:buChar char=""/>
              <a:tabLst>
                <a:tab pos="3048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satisfaction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usability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Types:</a:t>
            </a:r>
            <a:endParaRPr sz="11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45" y="4940172"/>
          <a:ext cx="6394450" cy="2952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3095"/>
                <a:gridCol w="4410075"/>
              </a:tblGrid>
              <a:tr h="466090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-6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1830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118110">
                        <a:lnSpc>
                          <a:spcPct val="112200"/>
                        </a:lnSpc>
                        <a:spcBef>
                          <a:spcPts val="3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dirty="0" sz="1150" spc="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individual</a:t>
                      </a:r>
                      <a:r>
                        <a:rPr dirty="0" sz="1150" spc="114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components</a:t>
                      </a:r>
                      <a:r>
                        <a:rPr dirty="0" sz="1150" spc="9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such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functions,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modules,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handlers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7385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Integration</a:t>
                      </a:r>
                      <a:r>
                        <a:rPr dirty="0" sz="1150" spc="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445770">
                        <a:lnSpc>
                          <a:spcPts val="1580"/>
                        </a:lnSpc>
                        <a:spcBef>
                          <a:spcPts val="8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interaction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frontend,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backend,</a:t>
                      </a:r>
                      <a:r>
                        <a:rPr dirty="0" sz="1150" spc="8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150" spc="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agents,</a:t>
                      </a:r>
                      <a:r>
                        <a:rPr dirty="0" sz="1150" spc="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external</a:t>
                      </a:r>
                      <a:r>
                        <a:rPr dirty="0" sz="1150" spc="9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0534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50" spc="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complete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workflow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50" spc="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marL="276225" marR="138430">
                        <a:lnSpc>
                          <a:spcPct val="112400"/>
                        </a:lnSpc>
                        <a:spcBef>
                          <a:spcPts val="6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User Acceptance</a:t>
                      </a:r>
                      <a:r>
                        <a:rPr dirty="0" sz="1150" spc="-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Testing (UAT)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Validates</a:t>
                      </a:r>
                      <a:r>
                        <a:rPr dirty="0" sz="1150" spc="4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end-user</a:t>
                      </a:r>
                      <a:r>
                        <a:rPr dirty="0" sz="1150" spc="1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perspective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50" spc="7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usability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6901" y="7886827"/>
            <a:ext cx="4196715" cy="10439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-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Used: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Pytest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unit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logic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functions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Postman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request-response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cycles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6073140" cy="50139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Manual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UI,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usability,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correctness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algn="just" marL="3048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Environment: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Operating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System: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Windows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Browser: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Google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Chrome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Technology: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Technology: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Streamlit</a:t>
            </a:r>
            <a:endParaRPr sz="1150">
              <a:latin typeface="Calibri"/>
              <a:cs typeface="Calibri"/>
            </a:endParaRPr>
          </a:p>
          <a:p>
            <a:pPr marL="30480" marR="3434079" indent="-18415">
              <a:lnSpc>
                <a:spcPct val="237500"/>
              </a:lnSpc>
              <a:spcBef>
                <a:spcPts val="35"/>
              </a:spcBef>
              <a:buSzPct val="86956"/>
              <a:buFont typeface="Symbol"/>
              <a:buChar char=""/>
              <a:tabLst>
                <a:tab pos="3048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Services: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API,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API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Strategy:</a:t>
            </a:r>
            <a:endParaRPr sz="1150">
              <a:latin typeface="Calibri"/>
              <a:cs typeface="Calibri"/>
            </a:endParaRPr>
          </a:p>
          <a:p>
            <a:pPr algn="just" marL="30480">
              <a:lnSpc>
                <a:spcPct val="100000"/>
              </a:lnSpc>
              <a:spcBef>
                <a:spcPts val="204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follows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strategy.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Initially,</a:t>
            </a:r>
            <a:r>
              <a:rPr dirty="0" sz="1150" spc="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individual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unit</a:t>
            </a:r>
            <a:endParaRPr sz="1150">
              <a:latin typeface="Calibri"/>
              <a:cs typeface="Calibri"/>
            </a:endParaRPr>
          </a:p>
          <a:p>
            <a:pPr algn="just" marL="30480" marR="304800">
              <a:lnSpc>
                <a:spcPct val="114799"/>
              </a:lnSpc>
              <a:spcBef>
                <a:spcPts val="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testing.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After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that,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communication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between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components.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Finally,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complete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workflow.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UAT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conducted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meets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expectations.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5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5.3</a:t>
            </a:r>
            <a:r>
              <a:rPr dirty="0" sz="140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400" spc="-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Case</a:t>
            </a:r>
            <a:r>
              <a:rPr dirty="0" sz="1400" spc="-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Calibri"/>
              <a:cs typeface="Calibri"/>
            </a:endParaRPr>
          </a:p>
          <a:p>
            <a:pPr marL="30480" marR="5080">
              <a:lnSpc>
                <a:spcPct val="1122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verify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each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functionality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manner.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Each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test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unique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scenario,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expected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result.</a:t>
            </a:r>
            <a:endParaRPr sz="11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45" y="6165849"/>
          <a:ext cx="6394450" cy="294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/>
                <a:gridCol w="1459230"/>
                <a:gridCol w="1299210"/>
                <a:gridCol w="2044700"/>
                <a:gridCol w="690879"/>
              </a:tblGrid>
              <a:tr h="667385">
                <a:tc>
                  <a:txBody>
                    <a:bodyPr/>
                    <a:lstStyle/>
                    <a:p>
                      <a:pPr marL="276225" marR="76835">
                        <a:lnSpc>
                          <a:spcPts val="1580"/>
                        </a:lnSpc>
                        <a:spcBef>
                          <a:spcPts val="50"/>
                        </a:spcBef>
                      </a:pPr>
                      <a:r>
                        <a:rPr dirty="0" sz="1150" spc="-2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 </a:t>
                      </a: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150" spc="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-10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1150" spc="15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Generate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topic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616585">
                        <a:lnSpc>
                          <a:spcPts val="1620"/>
                        </a:lnSpc>
                        <a:spcBef>
                          <a:spcPts val="2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Structured</a:t>
                      </a:r>
                      <a:r>
                        <a:rPr dirty="0" sz="1150" spc="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content generated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Generate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Empty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150" spc="10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message</a:t>
                      </a:r>
                      <a:r>
                        <a:rPr dirty="0" sz="1150" spc="1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displayed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0534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TC03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Agent</a:t>
                      </a:r>
                      <a:r>
                        <a:rPr dirty="0" sz="1150" spc="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Processing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query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Agents</a:t>
                      </a:r>
                      <a:r>
                        <a:rPr dirty="0" sz="1150" spc="8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execute</a:t>
                      </a:r>
                      <a:r>
                        <a:rPr dirty="0" sz="1150" spc="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successfully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Summarization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528955">
                        <a:lnSpc>
                          <a:spcPct val="112200"/>
                        </a:lnSpc>
                        <a:spcBef>
                          <a:spcPts val="3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generated correctly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60145" y="937513"/>
          <a:ext cx="6394450" cy="5824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/>
                <a:gridCol w="1459230"/>
                <a:gridCol w="1299210"/>
                <a:gridCol w="2044700"/>
                <a:gridCol w="690879"/>
              </a:tblGrid>
              <a:tr h="672465">
                <a:tc>
                  <a:txBody>
                    <a:bodyPr/>
                    <a:lstStyle/>
                    <a:p>
                      <a:pPr marL="276225" marR="76835">
                        <a:lnSpc>
                          <a:spcPts val="1580"/>
                        </a:lnSpc>
                        <a:spcBef>
                          <a:spcPts val="90"/>
                        </a:spcBef>
                      </a:pPr>
                      <a:r>
                        <a:rPr dirty="0" sz="1150" spc="-2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 </a:t>
                      </a: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dirty="0" sz="1150" spc="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150" spc="-10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15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1150" spc="155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150" spc="-10" b="1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0534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TC05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Visualization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Image/diagram</a:t>
                      </a:r>
                      <a:r>
                        <a:rPr dirty="0" sz="1150" spc="1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generated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849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TC06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150" spc="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request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519430">
                        <a:lnSpc>
                          <a:spcPts val="1590"/>
                        </a:lnSpc>
                        <a:spcBef>
                          <a:spcPts val="4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Proper</a:t>
                      </a:r>
                      <a:r>
                        <a:rPr dirty="0" sz="1150" spc="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response received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TC07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0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Document</a:t>
                      </a:r>
                      <a:r>
                        <a:rPr dirty="0" sz="1150" spc="114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Upload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0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PDF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0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380365">
                        <a:lnSpc>
                          <a:spcPct val="112300"/>
                        </a:lnSpc>
                        <a:spcBef>
                          <a:spcPts val="6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150" spc="10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extracted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processed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successfully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30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738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TC08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382270">
                        <a:lnSpc>
                          <a:spcPts val="1580"/>
                        </a:lnSpc>
                        <a:spcBef>
                          <a:spcPts val="8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 Performance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489584">
                        <a:lnSpc>
                          <a:spcPts val="1580"/>
                        </a:lnSpc>
                        <a:spcBef>
                          <a:spcPts val="8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Multiple requests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560705">
                        <a:lnSpc>
                          <a:spcPts val="1580"/>
                        </a:lnSpc>
                        <a:spcBef>
                          <a:spcPts val="8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performance maintained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TC09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424180">
                        <a:lnSpc>
                          <a:spcPts val="1620"/>
                        </a:lnSpc>
                        <a:spcBef>
                          <a:spcPts val="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Invalid</a:t>
                      </a:r>
                      <a:r>
                        <a:rPr dirty="0" sz="1150" spc="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 Handling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375285">
                        <a:lnSpc>
                          <a:spcPts val="1620"/>
                        </a:lnSpc>
                        <a:spcBef>
                          <a:spcPts val="55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Special characters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457200">
                        <a:lnSpc>
                          <a:spcPts val="1620"/>
                        </a:lnSpc>
                        <a:spcBef>
                          <a:spcPts val="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handles</a:t>
                      </a:r>
                      <a:r>
                        <a:rPr dirty="0" sz="1150" spc="7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1150" spc="9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crash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63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738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TC10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528320">
                        <a:lnSpc>
                          <a:spcPts val="1550"/>
                        </a:lnSpc>
                        <a:spcBef>
                          <a:spcPts val="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150" spc="-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Failure Handling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1150" spc="4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unavailable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229235">
                        <a:lnSpc>
                          <a:spcPts val="1550"/>
                        </a:lnSpc>
                        <a:spcBef>
                          <a:spcPts val="7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message</a:t>
                      </a:r>
                      <a:r>
                        <a:rPr dirty="0" sz="1150" spc="2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150" spc="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fallback triggered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TC11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UI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Responsiveness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 marR="288925">
                        <a:lnSpc>
                          <a:spcPts val="1580"/>
                        </a:lnSpc>
                        <a:spcBef>
                          <a:spcPts val="50"/>
                        </a:spcBef>
                      </a:pP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Multiple interactions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Smooth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UI</a:t>
                      </a:r>
                      <a:r>
                        <a:rPr dirty="0" sz="1150" spc="6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TC12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RAG</a:t>
                      </a:r>
                      <a:r>
                        <a:rPr dirty="0" sz="1150" spc="5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Processing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PDF</a:t>
                      </a:r>
                      <a:r>
                        <a:rPr dirty="0" sz="1150" spc="3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150" spc="3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Query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 marR="336550">
                        <a:lnSpc>
                          <a:spcPts val="1580"/>
                        </a:lnSpc>
                        <a:spcBef>
                          <a:spcPts val="50"/>
                        </a:spcBef>
                      </a:pP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Relevant</a:t>
                      </a:r>
                      <a:r>
                        <a:rPr dirty="0" sz="1150" spc="15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context-</a:t>
                      </a: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based </a:t>
                      </a:r>
                      <a:r>
                        <a:rPr dirty="0" sz="1150" spc="-1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50" spc="-20">
                          <a:solidFill>
                            <a:srgbClr val="000009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687957" y="928382"/>
            <a:ext cx="2745105" cy="5080"/>
          </a:xfrm>
          <a:custGeom>
            <a:avLst/>
            <a:gdLst/>
            <a:ahLst/>
            <a:cxnLst/>
            <a:rect l="l" t="t" r="r" b="b"/>
            <a:pathLst>
              <a:path w="2745104" h="5080">
                <a:moveTo>
                  <a:pt x="1445641" y="0"/>
                </a:moveTo>
                <a:lnTo>
                  <a:pt x="0" y="0"/>
                </a:lnTo>
                <a:lnTo>
                  <a:pt x="0" y="4559"/>
                </a:lnTo>
                <a:lnTo>
                  <a:pt x="1445641" y="4559"/>
                </a:lnTo>
                <a:lnTo>
                  <a:pt x="1445641" y="0"/>
                </a:lnTo>
                <a:close/>
              </a:path>
              <a:path w="2745104" h="5080">
                <a:moveTo>
                  <a:pt x="2744978" y="0"/>
                </a:moveTo>
                <a:lnTo>
                  <a:pt x="1459357" y="0"/>
                </a:lnTo>
                <a:lnTo>
                  <a:pt x="1459357" y="4559"/>
                </a:lnTo>
                <a:lnTo>
                  <a:pt x="2744978" y="4559"/>
                </a:lnTo>
                <a:lnTo>
                  <a:pt x="2744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6901" y="6741617"/>
            <a:ext cx="6075680" cy="23399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0480" marR="5080">
              <a:lnSpc>
                <a:spcPct val="114799"/>
              </a:lnSpc>
              <a:spcBef>
                <a:spcPts val="9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cover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both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normal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edge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cases,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ensuring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behaves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correctly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all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scenarios.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5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5.4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Sample</a:t>
            </a:r>
            <a:r>
              <a:rPr dirty="0" sz="1400" spc="-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Test</a:t>
            </a:r>
            <a:r>
              <a:rPr dirty="0" sz="1400" spc="-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400" spc="-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  <a:p>
            <a:pPr marL="30480" marR="143510">
              <a:lnSpc>
                <a:spcPct val="114900"/>
              </a:lnSpc>
              <a:spcBef>
                <a:spcPts val="167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Sample test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evaluate system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outputs.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simulates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real-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world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usage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scenarios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reliability.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5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Sample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Topic: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Artificial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Intelligence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5134610" cy="81654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Query: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Explain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Machine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Input: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Sample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PDF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RAG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Prompt: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explanation</a:t>
            </a:r>
            <a:endParaRPr sz="1150">
              <a:latin typeface="Calibri"/>
              <a:cs typeface="Calibri"/>
            </a:endParaRPr>
          </a:p>
          <a:p>
            <a:pPr marL="30480" marR="1637664" indent="-18415">
              <a:lnSpc>
                <a:spcPct val="240000"/>
              </a:lnSpc>
              <a:buSzPct val="86956"/>
              <a:buFont typeface="Symbol"/>
              <a:buChar char=""/>
              <a:tabLst>
                <a:tab pos="3048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Additional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Input: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Deep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concepts,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NLP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basics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Observed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successfully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meaningful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collaboratively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Summaries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clear,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concise,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organized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effectively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RAG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accuracy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diagrams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images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correctly</a:t>
            </a:r>
            <a:endParaRPr sz="1150">
              <a:latin typeface="Calibri"/>
              <a:cs typeface="Calibri"/>
            </a:endParaRPr>
          </a:p>
          <a:p>
            <a:pPr marL="30480" marR="1498600" indent="-18415">
              <a:lnSpc>
                <a:spcPct val="237600"/>
              </a:lnSpc>
              <a:spcBef>
                <a:spcPts val="35"/>
              </a:spcBef>
              <a:buSzPct val="86956"/>
              <a:buFont typeface="Symbol"/>
              <a:buChar char=""/>
              <a:tabLst>
                <a:tab pos="3048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was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properly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interface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responded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within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acceptable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limits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critical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errors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failures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observed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concurrent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requests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efficiently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remained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stable</a:t>
            </a:r>
            <a:endParaRPr sz="1150">
              <a:latin typeface="Calibri"/>
              <a:cs typeface="Calibri"/>
            </a:endParaRPr>
          </a:p>
          <a:p>
            <a:pPr marL="30480" marR="1303655" indent="-18415">
              <a:lnSpc>
                <a:spcPts val="3310"/>
              </a:lnSpc>
              <a:spcBef>
                <a:spcPts val="400"/>
              </a:spcBef>
              <a:buSzPct val="86956"/>
              <a:buFont typeface="Symbol"/>
              <a:buChar char=""/>
              <a:tabLst>
                <a:tab pos="30480" algn="l"/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Memory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resource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usage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within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acceptable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limits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displayed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messages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invalid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empty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000009"/>
              </a:buClr>
              <a:buFont typeface="Symbol"/>
              <a:buChar char=""/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Fallback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mechanisms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correctly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when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unavailable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5833110" cy="824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"/>
              </a:spcBef>
              <a:buSzPct val="86956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maintained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stability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even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failures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50">
              <a:latin typeface="Calibri"/>
              <a:cs typeface="Calibri"/>
            </a:endParaRPr>
          </a:p>
          <a:p>
            <a:pPr marL="30480" marR="5080">
              <a:lnSpc>
                <a:spcPct val="1149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Overall,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confirm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robust,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reliable.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meets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all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non-functional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requirements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smooth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experience.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97763"/>
            <a:ext cx="5859780" cy="7721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50800">
              <a:lnSpc>
                <a:spcPct val="100000"/>
              </a:lnSpc>
              <a:spcBef>
                <a:spcPts val="135"/>
              </a:spcBef>
            </a:pP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5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000009"/>
                </a:solidFill>
                <a:latin typeface="Calibri"/>
                <a:cs typeface="Calibri"/>
              </a:rPr>
              <a:t>6:</a:t>
            </a:r>
            <a:r>
              <a:rPr dirty="0" sz="1550" spc="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000009"/>
                </a:solidFill>
                <a:latin typeface="Calibri"/>
                <a:cs typeface="Calibri"/>
              </a:rPr>
              <a:t>LIMITATIONS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6.1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Limitation</a:t>
            </a:r>
            <a:endParaRPr sz="1400">
              <a:latin typeface="Calibri"/>
              <a:cs typeface="Calibri"/>
            </a:endParaRPr>
          </a:p>
          <a:p>
            <a:pPr marL="26034" marR="17145" indent="-5080">
              <a:lnSpc>
                <a:spcPct val="120100"/>
              </a:lnSpc>
              <a:spcBef>
                <a:spcPts val="150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Although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efficient,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scalable,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user-friendly,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certain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limitations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affect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specific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scenarios.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limitations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common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versions.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000009"/>
              </a:buClr>
              <a:buFont typeface="Calibri"/>
              <a:buAutoNum type="arabicPeriod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Dependency</a:t>
            </a:r>
            <a:r>
              <a:rPr dirty="0" sz="1150" spc="1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1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APIs:</a:t>
            </a:r>
            <a:endParaRPr sz="1150">
              <a:latin typeface="Calibri"/>
              <a:cs typeface="Calibri"/>
            </a:endParaRPr>
          </a:p>
          <a:p>
            <a:pPr marL="241300" marR="11430">
              <a:lnSpc>
                <a:spcPct val="1174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relies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heavily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processing.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If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these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downtime,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latency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issues,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rate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limits,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endParaRPr sz="1150">
              <a:latin typeface="Calibri"/>
              <a:cs typeface="Calibri"/>
            </a:endParaRPr>
          </a:p>
          <a:p>
            <a:pPr marL="241300" marR="10160">
              <a:lnSpc>
                <a:spcPct val="1175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affected.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dependency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impact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availability.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2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Web-Based</a:t>
            </a:r>
            <a:r>
              <a:rPr dirty="0" sz="1150" spc="10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1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Only:</a:t>
            </a:r>
            <a:endParaRPr sz="115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Currently,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web-based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does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have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endParaRPr sz="1150">
              <a:latin typeface="Calibri"/>
              <a:cs typeface="Calibri"/>
            </a:endParaRPr>
          </a:p>
          <a:p>
            <a:pPr marL="241300" marR="398780">
              <a:lnSpc>
                <a:spcPct val="1174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dedicated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mobile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accessibility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prefer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mobile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platforms.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Although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run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mobile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browsers,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fully optimized.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9"/>
              </a:buClr>
              <a:buFont typeface="Calibri"/>
              <a:buAutoNum type="arabicPeriod" startAt="3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Internet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Dependency:</a:t>
            </a:r>
            <a:endParaRPr sz="115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stable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internet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connection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real-time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especially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endParaRPr sz="1150">
              <a:latin typeface="Calibri"/>
              <a:cs typeface="Calibri"/>
            </a:endParaRPr>
          </a:p>
          <a:p>
            <a:pPr marL="241300" marR="154940">
              <a:lnSpc>
                <a:spcPct val="1174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calls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document-based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retrieval.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environments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poor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unstable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connectivity,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properly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produce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delayed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responses.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4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Limited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Personalization:</a:t>
            </a:r>
            <a:endParaRPr sz="1150">
              <a:latin typeface="Calibri"/>
              <a:cs typeface="Calibri"/>
            </a:endParaRPr>
          </a:p>
          <a:p>
            <a:pPr marL="241300" marR="179705">
              <a:lnSpc>
                <a:spcPct val="1174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general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but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advanced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personalization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features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profiles,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preferences,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history-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endParaRPr sz="115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1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recommendations.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reduce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ability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deliver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highly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customized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5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Accuracy</a:t>
            </a:r>
            <a:r>
              <a:rPr dirty="0" sz="1150" spc="1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Depends</a:t>
            </a:r>
            <a:r>
              <a:rPr dirty="0" sz="1150" spc="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Quality:</a:t>
            </a:r>
            <a:endParaRPr sz="1150">
              <a:latin typeface="Calibri"/>
              <a:cs typeface="Calibri"/>
            </a:endParaRPr>
          </a:p>
          <a:p>
            <a:pPr marL="241300" marR="448945">
              <a:lnSpc>
                <a:spcPct val="1174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depends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clarity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correctness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user’s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input.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Ambiguous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incomplete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queries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less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less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relevant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results.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9"/>
              </a:buClr>
              <a:buFont typeface="Calibri"/>
              <a:buAutoNum type="arabicPeriod" startAt="6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Limited</a:t>
            </a:r>
            <a:r>
              <a:rPr dirty="0" sz="1150" spc="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Offline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Capability:</a:t>
            </a:r>
            <a:endParaRPr sz="1150">
              <a:latin typeface="Calibri"/>
              <a:cs typeface="Calibri"/>
            </a:endParaRPr>
          </a:p>
          <a:p>
            <a:pPr marL="241300" marR="46355">
              <a:lnSpc>
                <a:spcPct val="1174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Since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depends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online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cannot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offline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mode.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restricts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usability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offline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environments.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901" y="873074"/>
            <a:ext cx="5854065" cy="16770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30"/>
              </a:spcBef>
              <a:buClr>
                <a:srgbClr val="000009"/>
              </a:buClr>
              <a:buFont typeface="Calibri"/>
              <a:buAutoNum type="arabicPeriod" startAt="7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Basic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Some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Cases:</a:t>
            </a:r>
            <a:endParaRPr sz="115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Although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includes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mechanisms,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certain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edge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cases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or</a:t>
            </a:r>
            <a:endParaRPr sz="1150">
              <a:latin typeface="Calibri"/>
              <a:cs typeface="Calibri"/>
            </a:endParaRPr>
          </a:p>
          <a:p>
            <a:pPr marL="241300" marR="55880">
              <a:lnSpc>
                <a:spcPct val="1175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unexpected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failures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always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produce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detailed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error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messages,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which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affect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debugging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understanding.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8"/>
              <a:tabLst>
                <a:tab pos="241300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Scalability</a:t>
            </a:r>
            <a:r>
              <a:rPr dirty="0" sz="1150" spc="10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Constraints</a:t>
            </a:r>
            <a:r>
              <a:rPr dirty="0" sz="1150" spc="1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(Current</a:t>
            </a:r>
            <a:r>
              <a:rPr dirty="0" sz="1150" spc="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Version):</a:t>
            </a:r>
            <a:endParaRPr sz="1150">
              <a:latin typeface="Calibri"/>
              <a:cs typeface="Calibri"/>
            </a:endParaRPr>
          </a:p>
          <a:p>
            <a:pPr marL="241300" marR="5080">
              <a:lnSpc>
                <a:spcPts val="1660"/>
              </a:lnSpc>
              <a:spcBef>
                <a:spcPts val="6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scalable,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current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implementation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may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face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limitations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very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high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load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without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proper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cloud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deployment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load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balancing.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1098931"/>
            <a:ext cx="5890260" cy="808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7: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SUMMARY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400" spc="-3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CONCLUSIONS</a:t>
            </a:r>
            <a:endParaRPr sz="1400">
              <a:latin typeface="Calibri"/>
              <a:cs typeface="Calibri"/>
            </a:endParaRPr>
          </a:p>
          <a:p>
            <a:pPr algn="just" marL="17145" marR="26034" indent="-5080">
              <a:lnSpc>
                <a:spcPct val="159200"/>
              </a:lnSpc>
              <a:spcBef>
                <a:spcPts val="53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has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been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successfully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implemented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advanced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aimed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improving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methods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automation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generation.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focuses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providing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centralized</a:t>
            </a:r>
            <a:r>
              <a:rPr dirty="0" sz="1150" spc="-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platform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that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enables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explore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topics,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explanations,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visualize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concepts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using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working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collaboratively.</a:t>
            </a:r>
            <a:endParaRPr sz="1150">
              <a:latin typeface="Calibri"/>
              <a:cs typeface="Calibri"/>
            </a:endParaRPr>
          </a:p>
          <a:p>
            <a:pPr algn="just" marL="17145" marR="9525" indent="-5080">
              <a:lnSpc>
                <a:spcPct val="159200"/>
              </a:lnSpc>
              <a:spcBef>
                <a:spcPts val="115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project,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systematic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approach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was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followed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applying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principles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Software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Life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Cycle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(SDLC).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initial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phases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involved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analyzing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limitations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existing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identifying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structured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solution.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3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analysis,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requirements</a:t>
            </a:r>
            <a:r>
              <a:rPr dirty="0" sz="1150" spc="3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clearly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defined,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ensuring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that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both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non-functional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aspects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addressed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effectively.</a:t>
            </a:r>
            <a:endParaRPr sz="1150">
              <a:latin typeface="Calibri"/>
              <a:cs typeface="Calibri"/>
            </a:endParaRPr>
          </a:p>
          <a:p>
            <a:pPr algn="just" marL="17145" marR="5715" indent="-5080">
              <a:lnSpc>
                <a:spcPct val="159600"/>
              </a:lnSpc>
              <a:spcBef>
                <a:spcPts val="96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phase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introduced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modular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architecture</a:t>
            </a:r>
            <a:r>
              <a:rPr dirty="0" sz="1150" spc="40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4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4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multi-layered</a:t>
            </a:r>
            <a:r>
              <a:rPr dirty="0" sz="1150" spc="4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approach,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separating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interface,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layers.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architectural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enhances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scalability,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flexibility,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overall</a:t>
            </a:r>
            <a:r>
              <a:rPr dirty="0" sz="1150" spc="2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performance.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was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developed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Streamlit,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providing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simple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interactive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interface,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while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was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implemented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Python,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enabling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AI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agents.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External</a:t>
            </a:r>
            <a:r>
              <a:rPr dirty="0" sz="1150" spc="3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3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3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handle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analysis.</a:t>
            </a:r>
            <a:endParaRPr sz="1150">
              <a:latin typeface="Calibri"/>
              <a:cs typeface="Calibri"/>
            </a:endParaRPr>
          </a:p>
          <a:p>
            <a:pPr algn="just" marL="17145" marR="5080" indent="-5080">
              <a:lnSpc>
                <a:spcPct val="159200"/>
              </a:lnSpc>
              <a:spcBef>
                <a:spcPts val="100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successfully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integrates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components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such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as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interaction,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processing,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summarization,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visualization.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Each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component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was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designed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tested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carefully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smooth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coordination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accurate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output.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a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multi-agent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approach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allows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more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structured,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relevant,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highquality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compared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traditional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single-model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systems.</a:t>
            </a:r>
            <a:endParaRPr sz="1150">
              <a:latin typeface="Calibri"/>
              <a:cs typeface="Calibri"/>
            </a:endParaRPr>
          </a:p>
          <a:p>
            <a:pPr algn="just" marL="17145" marR="13335" indent="-5080">
              <a:lnSpc>
                <a:spcPct val="158300"/>
              </a:lnSpc>
              <a:spcBef>
                <a:spcPts val="98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Extensive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was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carried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validate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performance,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accuracy,</a:t>
            </a:r>
            <a:r>
              <a:rPr dirty="0" sz="1150" spc="1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reliability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0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demonstrated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fast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time,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consistent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r>
              <a:rPr dirty="0" sz="1150" spc="2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generation,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stable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performance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different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conditions.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Any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minor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issues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identified</a:t>
            </a:r>
            <a:r>
              <a:rPr dirty="0" sz="1150" spc="1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were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resolved,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resulting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refined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dependable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system.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799922"/>
            <a:ext cx="5887085" cy="293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145" marR="5080" indent="-5080">
              <a:lnSpc>
                <a:spcPct val="158500"/>
              </a:lnSpc>
              <a:spcBef>
                <a:spcPts val="100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One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key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achievements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is</a:t>
            </a:r>
            <a:r>
              <a:rPr dirty="0" sz="1150" spc="2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enhancement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efficiency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quality.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reduces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need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search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across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resources</a:t>
            </a:r>
            <a:r>
              <a:rPr dirty="0" sz="1150" spc="1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providing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well-structured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summarized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one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place.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Users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can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easily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understand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complex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topics</a:t>
            </a:r>
            <a:r>
              <a:rPr dirty="0" sz="1150" spc="2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through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explanations</a:t>
            </a:r>
            <a:r>
              <a:rPr dirty="0" sz="1150" spc="2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2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content,</a:t>
            </a:r>
            <a:r>
              <a:rPr dirty="0" sz="1150" spc="2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while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ensures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better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organization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clarity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information.</a:t>
            </a:r>
            <a:endParaRPr sz="1150">
              <a:latin typeface="Calibri"/>
              <a:cs typeface="Calibri"/>
            </a:endParaRPr>
          </a:p>
          <a:p>
            <a:pPr algn="just" marL="17145" marR="5080" indent="-5080">
              <a:lnSpc>
                <a:spcPct val="158600"/>
              </a:lnSpc>
              <a:spcBef>
                <a:spcPts val="105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conclusion,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project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has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successfully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achieved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its</a:t>
            </a:r>
            <a:r>
              <a:rPr dirty="0" sz="1150" spc="3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objectives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 spc="3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delivering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3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scalable,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user-friendly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AI-powered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educational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platform.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demonstrates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effective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use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3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modern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3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technologies</a:t>
            </a:r>
            <a:r>
              <a:rPr dirty="0" sz="1150" spc="2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solving</a:t>
            </a:r>
            <a:r>
              <a:rPr dirty="0" sz="1150" spc="3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real-world</a:t>
            </a:r>
            <a:r>
              <a:rPr dirty="0" sz="1150" spc="2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learning</a:t>
            </a:r>
            <a:r>
              <a:rPr dirty="0" sz="1150" spc="3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challenges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contributes</a:t>
            </a:r>
            <a:r>
              <a:rPr dirty="0" sz="1150" spc="3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3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the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advancement</a:t>
            </a:r>
            <a:r>
              <a:rPr dirty="0" sz="1150" spc="2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digital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education</a:t>
            </a:r>
            <a:r>
              <a:rPr dirty="0" sz="1150" spc="229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systems.</a:t>
            </a:r>
            <a:r>
              <a:rPr dirty="0" sz="1150" spc="2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</a:t>
            </a:r>
            <a:r>
              <a:rPr dirty="0" sz="1150" spc="1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also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provides</a:t>
            </a:r>
            <a:r>
              <a:rPr dirty="0" sz="1150" spc="25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2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strong</a:t>
            </a:r>
            <a:r>
              <a:rPr dirty="0" sz="1150" spc="2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foundation</a:t>
            </a:r>
            <a:r>
              <a:rPr dirty="0" sz="1150" spc="2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for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enhancements,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making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valuable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sustainable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solution.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1332102"/>
            <a:ext cx="5827395" cy="6574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112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8: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400" spc="-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SCOPE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Future</a:t>
            </a:r>
            <a:r>
              <a:rPr dirty="0" sz="1150" spc="6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Enhancements: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buFont typeface="Calibri"/>
              <a:buAutoNum type="arabicPeriod"/>
              <a:tabLst>
                <a:tab pos="478155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Mobile</a:t>
            </a:r>
            <a:r>
              <a:rPr dirty="0" sz="1150" spc="114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Development:</a:t>
            </a:r>
            <a:endParaRPr sz="1150">
              <a:latin typeface="Calibri"/>
              <a:cs typeface="Calibri"/>
            </a:endParaRPr>
          </a:p>
          <a:p>
            <a:pPr marL="483870" marR="555625" indent="-5080">
              <a:lnSpc>
                <a:spcPct val="1565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dedicated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mobile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application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accessibility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000009"/>
                </a:solidFill>
                <a:latin typeface="Calibri"/>
                <a:cs typeface="Calibri"/>
              </a:rPr>
              <a:t>a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seamless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experience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across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devices.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spcBef>
                <a:spcPts val="5"/>
              </a:spcBef>
              <a:buClr>
                <a:srgbClr val="000009"/>
              </a:buClr>
              <a:buFont typeface="Calibri"/>
              <a:buAutoNum type="arabicPeriod" startAt="2"/>
              <a:tabLst>
                <a:tab pos="478155" algn="l"/>
              </a:tabLst>
            </a:pP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AI-Based</a:t>
            </a:r>
            <a:r>
              <a:rPr dirty="0" sz="1150" spc="7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Recommendation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System:</a:t>
            </a:r>
            <a:endParaRPr sz="1150">
              <a:latin typeface="Calibri"/>
              <a:cs typeface="Calibri"/>
            </a:endParaRPr>
          </a:p>
          <a:p>
            <a:pPr marL="483870" marR="607695" indent="-5080">
              <a:lnSpc>
                <a:spcPct val="1565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Implement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intelligent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algorithms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suggest</a:t>
            </a:r>
            <a:r>
              <a:rPr dirty="0" sz="1150" spc="1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personalized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tours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based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on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user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preferences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booking</a:t>
            </a:r>
            <a:r>
              <a:rPr dirty="0" sz="1150" spc="1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history.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3"/>
              <a:tabLst>
                <a:tab pos="478155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Multiple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Payment</a:t>
            </a:r>
            <a:r>
              <a:rPr dirty="0" sz="1150" spc="8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Gateway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Integration:</a:t>
            </a:r>
            <a:endParaRPr sz="1150">
              <a:latin typeface="Calibri"/>
              <a:cs typeface="Calibri"/>
            </a:endParaRPr>
          </a:p>
          <a:p>
            <a:pPr marL="483870" marR="65405" indent="-5080">
              <a:lnSpc>
                <a:spcPts val="2200"/>
              </a:lnSpc>
              <a:spcBef>
                <a:spcPts val="204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Expand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payment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options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by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integrating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UPI,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digital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wallets,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international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payment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systems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better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flexibility.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4"/>
              <a:tabLst>
                <a:tab pos="478155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Real-Time</a:t>
            </a:r>
            <a:r>
              <a:rPr dirty="0" sz="1150" spc="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Notifications:</a:t>
            </a:r>
            <a:endParaRPr sz="1150">
              <a:latin typeface="Calibri"/>
              <a:cs typeface="Calibri"/>
            </a:endParaRPr>
          </a:p>
          <a:p>
            <a:pPr marL="483870" marR="104775" indent="-5080">
              <a:lnSpc>
                <a:spcPct val="1591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Introduce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email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SMS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alerts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booking</a:t>
            </a:r>
            <a:r>
              <a:rPr dirty="0" sz="1150" spc="1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confirmations,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updates,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reminders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improve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engagement.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5"/>
              <a:tabLst>
                <a:tab pos="478155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Advanced</a:t>
            </a:r>
            <a:r>
              <a:rPr dirty="0" sz="1150" spc="1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Analytics</a:t>
            </a:r>
            <a:r>
              <a:rPr dirty="0" sz="1150" spc="1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Dashboard:</a:t>
            </a:r>
            <a:endParaRPr sz="1150">
              <a:latin typeface="Calibri"/>
              <a:cs typeface="Calibri"/>
            </a:endParaRPr>
          </a:p>
          <a:p>
            <a:pPr marL="483870" marR="5080" indent="-5080">
              <a:lnSpc>
                <a:spcPct val="156700"/>
              </a:lnSpc>
              <a:spcBef>
                <a:spcPts val="3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Provide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detailed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analytics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reports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admins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operators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data-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driven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decision-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making.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50">
              <a:latin typeface="Calibri"/>
              <a:cs typeface="Calibri"/>
            </a:endParaRPr>
          </a:p>
          <a:p>
            <a:pPr marL="478155" indent="-227965">
              <a:lnSpc>
                <a:spcPct val="100000"/>
              </a:lnSpc>
              <a:buClr>
                <a:srgbClr val="000009"/>
              </a:buClr>
              <a:buFont typeface="Calibri"/>
              <a:buAutoNum type="arabicPeriod" startAt="6"/>
              <a:tabLst>
                <a:tab pos="478155" algn="l"/>
              </a:tabLst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Integration</a:t>
            </a:r>
            <a:r>
              <a:rPr dirty="0" sz="1150" spc="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with</a:t>
            </a:r>
            <a:r>
              <a:rPr dirty="0" sz="1150" spc="10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Third-Party</a:t>
            </a:r>
            <a:r>
              <a:rPr dirty="0" sz="1150" spc="7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Services:</a:t>
            </a:r>
            <a:endParaRPr sz="1150">
              <a:latin typeface="Calibri"/>
              <a:cs typeface="Calibri"/>
            </a:endParaRPr>
          </a:p>
          <a:p>
            <a:pPr marL="483870" marR="415290" indent="-5080">
              <a:lnSpc>
                <a:spcPct val="159100"/>
              </a:lnSpc>
              <a:spcBef>
                <a:spcPts val="5"/>
              </a:spcBef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Integrate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maps,</a:t>
            </a:r>
            <a:r>
              <a:rPr dirty="0" sz="1150" spc="-1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weather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updates,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travel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services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enhance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overall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functionality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1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experience.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2"/>
            <a:ext cx="5667375" cy="8101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2669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CHAPTER</a:t>
            </a:r>
            <a:r>
              <a:rPr dirty="0" sz="1400" spc="-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9:</a:t>
            </a:r>
            <a:r>
              <a:rPr dirty="0" sz="1400" spc="-6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r>
              <a:rPr dirty="0" sz="1400" spc="-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&amp;</a:t>
            </a:r>
            <a:r>
              <a:rPr dirty="0" sz="1400" spc="-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BIBLIOGRAPHY</a:t>
            </a:r>
            <a:endParaRPr sz="1400">
              <a:latin typeface="Calibri"/>
              <a:cs typeface="Calibri"/>
            </a:endParaRPr>
          </a:p>
          <a:p>
            <a:pPr lvl="1" marL="276225" indent="-263525">
              <a:lnSpc>
                <a:spcPct val="100000"/>
              </a:lnSpc>
              <a:spcBef>
                <a:spcPts val="1310"/>
              </a:spcBef>
              <a:buClr>
                <a:srgbClr val="000009"/>
              </a:buClr>
              <a:buFont typeface="Calibri"/>
              <a:buAutoNum type="arabicPeriod"/>
              <a:tabLst>
                <a:tab pos="276225" algn="l"/>
              </a:tabLst>
            </a:pP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endParaRPr sz="1400">
              <a:latin typeface="Calibri"/>
              <a:cs typeface="Calibri"/>
            </a:endParaRPr>
          </a:p>
          <a:p>
            <a:pPr marL="17145" marR="5080" indent="-5080">
              <a:lnSpc>
                <a:spcPct val="157900"/>
              </a:lnSpc>
              <a:spcBef>
                <a:spcPts val="975"/>
              </a:spcBef>
            </a:pP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contains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supplementary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information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related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to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000009"/>
                </a:solidFill>
                <a:latin typeface="Calibri"/>
                <a:cs typeface="Calibri"/>
              </a:rPr>
              <a:t>and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implementation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project.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It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provides additional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technical</a:t>
            </a:r>
            <a:r>
              <a:rPr dirty="0" sz="1150" spc="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details that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support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main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report.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r>
              <a:rPr dirty="0" sz="1150" spc="-4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A:</a:t>
            </a:r>
            <a:r>
              <a:rPr dirty="0" sz="1150" spc="5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Tools</a:t>
            </a:r>
            <a:r>
              <a:rPr dirty="0" sz="1150" spc="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and</a:t>
            </a:r>
            <a:r>
              <a:rPr dirty="0" sz="1150" spc="2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10" b="1">
                <a:solidFill>
                  <a:srgbClr val="000009"/>
                </a:solidFill>
                <a:latin typeface="Calibri"/>
                <a:cs typeface="Calibri"/>
              </a:rPr>
              <a:t>Technologies</a:t>
            </a:r>
            <a:r>
              <a:rPr dirty="0" sz="1150" spc="1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 b="1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Frontend: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Streamlit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5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Backend: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15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Frameworks: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CrewAI,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LangChain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APIs: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Groq,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5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IDEs: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Visual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Studio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Code,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Jupyter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Notebook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85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Testing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Tools:</a:t>
            </a:r>
            <a:r>
              <a:rPr dirty="0" sz="1150" spc="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Postman,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Pytest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r>
              <a:rPr dirty="0" sz="1150" spc="9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B:</a:t>
            </a:r>
            <a:r>
              <a:rPr dirty="0" sz="1150" spc="9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Sample</a:t>
            </a:r>
            <a:r>
              <a:rPr dirty="0" sz="1150" spc="12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API</a:t>
            </a:r>
            <a:r>
              <a:rPr dirty="0" sz="1150" spc="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Endpoints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</a:t>
            </a:r>
            <a:r>
              <a:rPr dirty="0" sz="1150" spc="4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/generate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→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from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topic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/analyze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→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Perform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analysis</a:t>
            </a:r>
            <a:r>
              <a:rPr dirty="0" sz="1150" spc="4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using</a:t>
            </a:r>
            <a:r>
              <a:rPr dirty="0" sz="1150" spc="10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AI</a:t>
            </a:r>
            <a:r>
              <a:rPr dirty="0" sz="1150" spc="6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agents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9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/summarize</a:t>
            </a:r>
            <a:r>
              <a:rPr dirty="0" sz="1150" spc="9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→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summary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8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spcBef>
                <a:spcPts val="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POST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/upload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→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Upload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9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RAG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processing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Appendix</a:t>
            </a:r>
            <a:r>
              <a:rPr dirty="0" sz="1150" spc="4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C:</a:t>
            </a:r>
            <a:r>
              <a:rPr dirty="0" sz="1150" spc="10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Sample</a:t>
            </a:r>
            <a:r>
              <a:rPr dirty="0" sz="1150" spc="13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r>
              <a:rPr dirty="0" sz="1150" spc="80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0009"/>
                </a:solidFill>
                <a:latin typeface="Calibri"/>
                <a:cs typeface="Calibri"/>
              </a:rPr>
              <a:t>Structures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User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Input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9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Generated</a:t>
            </a:r>
            <a:r>
              <a:rPr dirty="0" sz="1150" spc="3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Content</a:t>
            </a:r>
            <a:r>
              <a:rPr dirty="0" sz="1150" spc="12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Output</a:t>
            </a:r>
            <a:endParaRPr sz="11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20"/>
              </a:spcBef>
              <a:buClr>
                <a:srgbClr val="00000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lvl="2" marL="121920" indent="-109220">
              <a:lnSpc>
                <a:spcPct val="100000"/>
              </a:lnSpc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Agent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Response</a:t>
            </a:r>
            <a:r>
              <a:rPr dirty="0" sz="1150" spc="12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 spc="-5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6045" y="897763"/>
            <a:ext cx="4653915" cy="3874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1920" indent="-109220">
              <a:lnSpc>
                <a:spcPct val="100000"/>
              </a:lnSpc>
              <a:spcBef>
                <a:spcPts val="135"/>
              </a:spcBef>
              <a:buChar char="•"/>
              <a:tabLst>
                <a:tab pos="12192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Document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(PDF)</a:t>
            </a:r>
            <a:r>
              <a:rPr dirty="0" sz="1150" spc="13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000009"/>
                </a:solidFill>
                <a:latin typeface="Calibri"/>
                <a:cs typeface="Calibri"/>
              </a:rPr>
              <a:t>Data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00009"/>
                </a:solidFill>
                <a:latin typeface="Calibri"/>
                <a:cs typeface="Calibri"/>
              </a:rPr>
              <a:t>9.2</a:t>
            </a:r>
            <a:r>
              <a:rPr dirty="0" sz="1400" spc="-55" b="1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0009"/>
                </a:solidFill>
                <a:latin typeface="Calibri"/>
                <a:cs typeface="Calibri"/>
              </a:rPr>
              <a:t>Bibliography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following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references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were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used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during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the</a:t>
            </a:r>
            <a:r>
              <a:rPr dirty="0" sz="1150" spc="7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development</a:t>
            </a:r>
            <a:r>
              <a:rPr dirty="0" sz="1150" spc="1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this</a:t>
            </a:r>
            <a:r>
              <a:rPr dirty="0" sz="1150" spc="5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project:</a:t>
            </a:r>
            <a:endParaRPr sz="11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31775" algn="l"/>
                <a:tab pos="23088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Python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Official</a:t>
            </a:r>
            <a:r>
              <a:rPr dirty="0" sz="1150" spc="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Documentation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https://docs.python.org/3/</a:t>
            </a:r>
            <a:endParaRPr sz="11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231775" algn="l"/>
                <a:tab pos="196596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Streamlit</a:t>
            </a:r>
            <a:r>
              <a:rPr dirty="0" sz="1150" spc="114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Documentation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https://docs.streamlit.io/</a:t>
            </a:r>
            <a:endParaRPr sz="11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285"/>
              </a:spcBef>
              <a:buAutoNum type="arabicPeriod"/>
              <a:tabLst>
                <a:tab pos="231775" algn="l"/>
                <a:tab pos="2038985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LangChain</a:t>
            </a:r>
            <a:r>
              <a:rPr dirty="0" sz="1150" spc="16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Documentation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https://docs.langchain.com/</a:t>
            </a:r>
            <a:endParaRPr sz="11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31775" algn="l"/>
                <a:tab pos="184658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CrewAI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Documentation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https://docs.crewai.com/</a:t>
            </a:r>
            <a:endParaRPr sz="11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285"/>
              </a:spcBef>
              <a:buAutoNum type="arabicPeriod"/>
              <a:tabLst>
                <a:tab pos="231775" algn="l"/>
                <a:tab pos="2221865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Hugging</a:t>
            </a:r>
            <a:r>
              <a:rPr dirty="0" sz="1150" spc="8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Face</a:t>
            </a:r>
            <a:r>
              <a:rPr dirty="0" sz="1150" spc="8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Documentation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https://huggingface.co/docs</a:t>
            </a:r>
            <a:endParaRPr sz="1150">
              <a:latin typeface="Calibri"/>
              <a:cs typeface="Calibri"/>
            </a:endParaRPr>
          </a:p>
          <a:p>
            <a:pPr marL="17145" marR="1990725" indent="-5080">
              <a:lnSpc>
                <a:spcPct val="117400"/>
              </a:lnSpc>
              <a:spcBef>
                <a:spcPts val="1080"/>
              </a:spcBef>
              <a:buAutoNum type="arabicPeriod"/>
              <a:tabLst>
                <a:tab pos="17145" algn="l"/>
                <a:tab pos="23114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Stack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Overflow</a:t>
            </a:r>
            <a:r>
              <a:rPr dirty="0" sz="1150" spc="10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(Developer</a:t>
            </a:r>
            <a:r>
              <a:rPr dirty="0" sz="1150" spc="5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Community) 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https://stackoverflow.com</a:t>
            </a:r>
            <a:endParaRPr sz="1150">
              <a:latin typeface="Calibri"/>
              <a:cs typeface="Calibri"/>
            </a:endParaRPr>
          </a:p>
          <a:p>
            <a:pPr marL="17145" marR="2246630" indent="-5080">
              <a:lnSpc>
                <a:spcPct val="117400"/>
              </a:lnSpc>
              <a:spcBef>
                <a:spcPts val="1080"/>
              </a:spcBef>
              <a:buAutoNum type="arabicPeriod"/>
              <a:tabLst>
                <a:tab pos="17145" algn="l"/>
                <a:tab pos="231140" algn="l"/>
              </a:tabLst>
            </a:pP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GeeksforGeeks</a:t>
            </a:r>
            <a:r>
              <a:rPr dirty="0" sz="1150" spc="10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000009"/>
                </a:solidFill>
                <a:latin typeface="Calibri"/>
                <a:cs typeface="Calibri"/>
              </a:rPr>
              <a:t>(Technical</a:t>
            </a:r>
            <a:r>
              <a:rPr dirty="0" sz="1150" spc="75">
                <a:solidFill>
                  <a:srgbClr val="00000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000009"/>
                </a:solidFill>
                <a:latin typeface="Calibri"/>
                <a:cs typeface="Calibri"/>
              </a:rPr>
              <a:t>Tutorials) </a:t>
            </a:r>
            <a:r>
              <a:rPr dirty="0" u="sng" sz="11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https://www.geeksforgeeks.org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Ujjawal Mehta</dc:creator>
  <dcterms:created xsi:type="dcterms:W3CDTF">2026-05-06T08:54:00Z</dcterms:created>
  <dcterms:modified xsi:type="dcterms:W3CDTF">2026-05-06T08:54:00Z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2026-05-06T00:00:00Z</vt:filetime>
  </property>
  <property fmtid="{D5CDD505-2E9C-101B-9397-08002B2CF9AE}" pid="6" name="Producer">
    <vt:lpwstr>www.ilovepdf.com</vt:lpwstr>
  </property>
</Properties>
</file>